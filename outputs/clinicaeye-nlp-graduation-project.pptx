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2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6f4eca9e3c24f78" /><Relationship Type="http://schemas.openxmlformats.org/officeDocument/2006/relationships/extended-properties" Target="/docProps/app.xml" Id="Re4f00f0e070c4159" /><Relationship Type="http://schemas.openxmlformats.org/officeDocument/2006/relationships/officeDocument" Target="/ppt/presentation.xml" Id="R08c4b2058a3f403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230091ebd634882"/>
  </p:sldMasterIdLst>
  <p:notesMasterIdLst>
    <p:notesMasterId xmlns:r="http://schemas.openxmlformats.org/officeDocument/2006/relationships" r:id="R5680d63d44144d7f"/>
  </p:notesMasterIdLst>
  <p:sldIdLst>
    <p:sldId xmlns:r="http://schemas.openxmlformats.org/officeDocument/2006/relationships" id="256" r:id="Rcae8ca959d124e90"/>
    <p:sldId xmlns:r="http://schemas.openxmlformats.org/officeDocument/2006/relationships" id="257" r:id="R20899134384c45ba"/>
    <p:sldId xmlns:r="http://schemas.openxmlformats.org/officeDocument/2006/relationships" id="258" r:id="R11902771cf704f8f"/>
    <p:sldId xmlns:r="http://schemas.openxmlformats.org/officeDocument/2006/relationships" id="259" r:id="R94dc7b8d9f6f4962"/>
    <p:sldId xmlns:r="http://schemas.openxmlformats.org/officeDocument/2006/relationships" id="260" r:id="Red7126951b7a47d9"/>
    <p:sldId xmlns:r="http://schemas.openxmlformats.org/officeDocument/2006/relationships" id="261" r:id="R8c526bf571bf4130"/>
    <p:sldId xmlns:r="http://schemas.openxmlformats.org/officeDocument/2006/relationships" id="262" r:id="R7855f25fca454b14"/>
    <p:sldId xmlns:r="http://schemas.openxmlformats.org/officeDocument/2006/relationships" id="263" r:id="R4aacd17acaf746a8"/>
    <p:sldId xmlns:r="http://schemas.openxmlformats.org/officeDocument/2006/relationships" id="264" r:id="R606af804baea414a"/>
    <p:sldId xmlns:r="http://schemas.openxmlformats.org/officeDocument/2006/relationships" id="265" r:id="R32be181b78df4a31"/>
    <p:sldId xmlns:r="http://schemas.openxmlformats.org/officeDocument/2006/relationships" id="266" r:id="R75536ea7f01b4c7b"/>
    <p:sldId xmlns:r="http://schemas.openxmlformats.org/officeDocument/2006/relationships" id="267" r:id="Rdd7cfab2b0054f2b"/>
    <p:sldId xmlns:r="http://schemas.openxmlformats.org/officeDocument/2006/relationships" id="268" r:id="R940d52a1f6a241f1"/>
    <p:sldId xmlns:r="http://schemas.openxmlformats.org/officeDocument/2006/relationships" id="269" r:id="Rfafc5e69d50d4382"/>
    <p:sldId xmlns:r="http://schemas.openxmlformats.org/officeDocument/2006/relationships" id="270" r:id="Ra6790c710b364f7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36a95ba7b1f4d19" /><Relationship Type="http://schemas.openxmlformats.org/officeDocument/2006/relationships/slideMaster" Target="/ppt/slideMasters/slideMaster1.xml" Id="Re230091ebd634882" /><Relationship Type="http://schemas.openxmlformats.org/officeDocument/2006/relationships/notesMaster" Target="/ppt/notesMasters/notesMaster1.xml" Id="R5680d63d44144d7f" /><Relationship Type="http://schemas.openxmlformats.org/officeDocument/2006/relationships/presProps" Target="/ppt/presProps.xml" Id="R293018c39f6f4498" /><Relationship Type="http://schemas.openxmlformats.org/officeDocument/2006/relationships/tableStyles" Target="/ppt/tableStyles.xml" Id="R915d3c29b3584520" /><Relationship Type="http://schemas.openxmlformats.org/officeDocument/2006/relationships/slide" Target="/ppt/slides/slide1.xml" Id="Rcae8ca959d124e90" /><Relationship Type="http://schemas.openxmlformats.org/officeDocument/2006/relationships/slide" Target="/ppt/slides/slide2.xml" Id="R20899134384c45ba" /><Relationship Type="http://schemas.openxmlformats.org/officeDocument/2006/relationships/slide" Target="/ppt/slides/slide3.xml" Id="R11902771cf704f8f" /><Relationship Type="http://schemas.openxmlformats.org/officeDocument/2006/relationships/slide" Target="/ppt/slides/slide4.xml" Id="R94dc7b8d9f6f4962" /><Relationship Type="http://schemas.openxmlformats.org/officeDocument/2006/relationships/slide" Target="/ppt/slides/slide5.xml" Id="Red7126951b7a47d9" /><Relationship Type="http://schemas.openxmlformats.org/officeDocument/2006/relationships/slide" Target="/ppt/slides/slide6.xml" Id="R8c526bf571bf4130" /><Relationship Type="http://schemas.openxmlformats.org/officeDocument/2006/relationships/slide" Target="/ppt/slides/slide7.xml" Id="R7855f25fca454b14" /><Relationship Type="http://schemas.openxmlformats.org/officeDocument/2006/relationships/slide" Target="/ppt/slides/slide8.xml" Id="R4aacd17acaf746a8" /><Relationship Type="http://schemas.openxmlformats.org/officeDocument/2006/relationships/slide" Target="/ppt/slides/slide9.xml" Id="R606af804baea414a" /><Relationship Type="http://schemas.openxmlformats.org/officeDocument/2006/relationships/slide" Target="/ppt/slides/slide10.xml" Id="R32be181b78df4a31" /><Relationship Type="http://schemas.openxmlformats.org/officeDocument/2006/relationships/slide" Target="/ppt/slides/slide11.xml" Id="R75536ea7f01b4c7b" /><Relationship Type="http://schemas.openxmlformats.org/officeDocument/2006/relationships/slide" Target="/ppt/slides/slide12.xml" Id="Rdd7cfab2b0054f2b" /><Relationship Type="http://schemas.openxmlformats.org/officeDocument/2006/relationships/slide" Target="/ppt/slides/slide13.xml" Id="R940d52a1f6a241f1" /><Relationship Type="http://schemas.openxmlformats.org/officeDocument/2006/relationships/slide" Target="/ppt/slides/slide14.xml" Id="Rfafc5e69d50d4382" /><Relationship Type="http://schemas.openxmlformats.org/officeDocument/2006/relationships/slide" Target="/ppt/slides/slide15.xml" Id="Ra6790c710b364f7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3ce59122ec5439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linicaEye Dark">
      <a:dk1>
        <a:srgbClr val="000000"/>
      </a:dk1>
      <a:lt1>
        <a:srgbClr val="FFFFFF"/>
      </a:lt1>
      <a:dk2>
        <a:srgbClr val="0B1B2F"/>
      </a:dk2>
      <a:lt2>
        <a:srgbClr val="254766"/>
      </a:lt2>
      <a:accent1>
        <a:srgbClr val="38BDF8"/>
      </a:accent1>
      <a:accent2>
        <a:srgbClr val="2DD4BF"/>
      </a:accent2>
      <a:accent3>
        <a:srgbClr val="FBBF24"/>
      </a:accent3>
      <a:accent4>
        <a:srgbClr val="FB7185"/>
      </a:accent4>
      <a:accent5>
        <a:srgbClr val="818CF8"/>
      </a:accent5>
      <a:accent6>
        <a:srgbClr val="34D399"/>
      </a:accent6>
      <a:hlink>
        <a:srgbClr val="38BDF8"/>
      </a:hlink>
      <a:folHlink>
        <a:srgbClr val="2DD4BF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linicaEye Dark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8c1638f26b744be" /><Relationship Type="http://schemas.openxmlformats.org/officeDocument/2006/relationships/notesMaster" Target="/ppt/notesMasters/notesMaster1.xml" Id="R1d8b61bd1a51479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540e9aafd4b4a9d" /><Relationship Type="http://schemas.openxmlformats.org/officeDocument/2006/relationships/notesMaster" Target="/ppt/notesMasters/notesMaster1.xml" Id="Rb0cdb53eb82c40f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feb45fc9e1d431e" /><Relationship Type="http://schemas.openxmlformats.org/officeDocument/2006/relationships/notesMaster" Target="/ppt/notesMasters/notesMaster1.xml" Id="Re7e88f850fa54e3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b6fa5aa40374caf" /><Relationship Type="http://schemas.openxmlformats.org/officeDocument/2006/relationships/notesMaster" Target="/ppt/notesMasters/notesMaster1.xml" Id="R2bcff819715a46a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e33af978d4d4a87" /><Relationship Type="http://schemas.openxmlformats.org/officeDocument/2006/relationships/notesMaster" Target="/ppt/notesMasters/notesMaster1.xml" Id="Rb3ccf6ca42cc4d9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c7087967a454d4d" /><Relationship Type="http://schemas.openxmlformats.org/officeDocument/2006/relationships/notesMaster" Target="/ppt/notesMasters/notesMaster1.xml" Id="Ra3935e8170464ba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650438264d44a1e" /><Relationship Type="http://schemas.openxmlformats.org/officeDocument/2006/relationships/notesMaster" Target="/ppt/notesMasters/notesMaster1.xml" Id="R4fdef7f7cf2c4a1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9a9aad1a66c4da3" /><Relationship Type="http://schemas.openxmlformats.org/officeDocument/2006/relationships/notesMaster" Target="/ppt/notesMasters/notesMaster1.xml" Id="Rdd5405b95ac34ac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62f578f15954ea6" /><Relationship Type="http://schemas.openxmlformats.org/officeDocument/2006/relationships/notesMaster" Target="/ppt/notesMasters/notesMaster1.xml" Id="R407a92283bde4e0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df99c6c69aa44f5" /><Relationship Type="http://schemas.openxmlformats.org/officeDocument/2006/relationships/notesMaster" Target="/ppt/notesMasters/notesMaster1.xml" Id="R519e76c7be8347f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add7c9617f44e50" /><Relationship Type="http://schemas.openxmlformats.org/officeDocument/2006/relationships/notesMaster" Target="/ppt/notesMasters/notesMaster1.xml" Id="Rd0b7ae0b0d7f4a8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7b397245b934ab8" /><Relationship Type="http://schemas.openxmlformats.org/officeDocument/2006/relationships/notesMaster" Target="/ppt/notesMasters/notesMaster1.xml" Id="R2350c89d8c81415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0dcdef9c8674c76" /><Relationship Type="http://schemas.openxmlformats.org/officeDocument/2006/relationships/notesMaster" Target="/ppt/notesMasters/notesMaster1.xml" Id="Rdffbcb69a75f440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f9ad742bc0b467c" /><Relationship Type="http://schemas.openxmlformats.org/officeDocument/2006/relationships/notesMaster" Target="/ppt/notesMasters/notesMaster1.xml" Id="R1f6d2ea142c0445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4aaff79f0cd44c6" /><Relationship Type="http://schemas.openxmlformats.org/officeDocument/2006/relationships/notesMaster" Target="/ppt/notesMasters/notesMaster1.xml" Id="R21b5b2d8d85041b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0c1ba74ef94d0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b4bbd675cf44925" /><Relationship Type="http://schemas.openxmlformats.org/officeDocument/2006/relationships/slideLayout" Target="/ppt/slideLayouts/slideLayout1.xml" Id="Rce419f22d5c04ef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e419f22d5c04ef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linicaEye Dark">
      <a:dk1>
        <a:srgbClr val="000000"/>
      </a:dk1>
      <a:lt1>
        <a:srgbClr val="FFFFFF"/>
      </a:lt1>
      <a:dk2>
        <a:srgbClr val="0B1B2F"/>
      </a:dk2>
      <a:lt2>
        <a:srgbClr val="254766"/>
      </a:lt2>
      <a:accent1>
        <a:srgbClr val="38BDF8"/>
      </a:accent1>
      <a:accent2>
        <a:srgbClr val="2DD4BF"/>
      </a:accent2>
      <a:accent3>
        <a:srgbClr val="FBBF24"/>
      </a:accent3>
      <a:accent4>
        <a:srgbClr val="FB7185"/>
      </a:accent4>
      <a:accent5>
        <a:srgbClr val="818CF8"/>
      </a:accent5>
      <a:accent6>
        <a:srgbClr val="34D399"/>
      </a:accent6>
      <a:hlink>
        <a:srgbClr val="38BDF8"/>
      </a:hlink>
      <a:folHlink>
        <a:srgbClr val="2DD4BF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linicaEye Dark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1bbfe2b4fa40ab" /><Relationship Type="http://schemas.openxmlformats.org/officeDocument/2006/relationships/notesSlide" Target="/ppt/notesSlides/notesSlide1.xml" Id="R143874c718d94ca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c5bfa895a94f2c" /><Relationship Type="http://schemas.openxmlformats.org/officeDocument/2006/relationships/notesSlide" Target="/ppt/notesSlides/notesSlide2.xml" Id="R4fbafe8e809547b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3c54cf30544ecc" /><Relationship Type="http://schemas.openxmlformats.org/officeDocument/2006/relationships/notesSlide" Target="/ppt/notesSlides/notesSlide3.xml" Id="R3dffa11b946f45b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00c5a80d13428f" /><Relationship Type="http://schemas.openxmlformats.org/officeDocument/2006/relationships/notesSlide" Target="/ppt/notesSlides/notesSlide4.xml" Id="Rbfd7f267a13a4fc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e3dfab5d3e4916" /><Relationship Type="http://schemas.openxmlformats.org/officeDocument/2006/relationships/notesSlide" Target="/ppt/notesSlides/notesSlide5.xml" Id="R6ae9ae8491444e3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f069bc1c9546c0" /><Relationship Type="http://schemas.openxmlformats.org/officeDocument/2006/relationships/notesSlide" Target="/ppt/notesSlides/notesSlide6.xml" Id="Re1277bf3be18403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3de181aae3434a" /><Relationship Type="http://schemas.openxmlformats.org/officeDocument/2006/relationships/notesSlide" Target="/ppt/notesSlides/notesSlide7.xml" Id="R1422df9bab0b4d6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ada5aa61064890" /><Relationship Type="http://schemas.openxmlformats.org/officeDocument/2006/relationships/notesSlide" Target="/ppt/notesSlides/notesSlide8.xml" Id="R250c49a9199e425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2beec346e34e15" /><Relationship Type="http://schemas.openxmlformats.org/officeDocument/2006/relationships/chart" Target="/ppt/slides/charts/chart1.xml" Id="R952e9e2a12f1449b" /><Relationship Type="http://schemas.openxmlformats.org/officeDocument/2006/relationships/notesSlide" Target="/ppt/notesSlides/notesSlide9.xml" Id="Rb85ae52d28f84a1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803b8a0eb54538" /><Relationship Type="http://schemas.openxmlformats.org/officeDocument/2006/relationships/chart" Target="/ppt/slides/charts/chart2.xml" Id="R0e37cc91fc3244ec" /><Relationship Type="http://schemas.openxmlformats.org/officeDocument/2006/relationships/notesSlide" Target="/ppt/notesSlides/notesSlide10.xml" Id="Rf5e26c4583454ed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7ba728942b4f21" /><Relationship Type="http://schemas.openxmlformats.org/officeDocument/2006/relationships/notesSlide" Target="/ppt/notesSlides/notesSlide11.xml" Id="R5a065da80b66480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5dcd976f73430d" /><Relationship Type="http://schemas.openxmlformats.org/officeDocument/2006/relationships/notesSlide" Target="/ppt/notesSlides/notesSlide12.xml" Id="R9e3e6b0a25d94e4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5cd31a20ec4aa0" /><Relationship Type="http://schemas.openxmlformats.org/officeDocument/2006/relationships/notesSlide" Target="/ppt/notesSlides/notesSlide13.xml" Id="R8de32250e55340a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547553a6ef41e3" /><Relationship Type="http://schemas.openxmlformats.org/officeDocument/2006/relationships/notesSlide" Target="/ppt/notesSlides/notesSlide14.xml" Id="R80bfd38df2be4ec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56150a70504d2f" /><Relationship Type="http://schemas.openxmlformats.org/officeDocument/2006/relationships/notesSlide" Target="/ppt/notesSlides/notesSlide15.xml" Id="Rd3fafafce8074aa2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barChart>
        <c:barDir val="bar"/>
        <c:grouping val="clustered"/>
        <c:varyColors val="0"/>
        <c:ser>
          <c:idx val="0"/>
          <c:order val="0"/>
          <c:tx>
            <c:v>F1 (%)</c:v>
          </c:tx>
          <c:spPr>
            <a:solidFill xmlns:a="http://schemas.openxmlformats.org/drawingml/2006/main">
              <a:srgbClr val="2DD4BF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8"/>
              <c:pt idx="0">
                <c:v>Katarakt</c:v>
              </c:pt>
              <c:pt idx="1">
                <c:v>Konjonktivit</c:v>
              </c:pt>
              <c:pt idx="2">
                <c:v>Diyabetik Ret.</c:v>
              </c:pt>
              <c:pt idx="3">
                <c:v>Kuru Göz</c:v>
              </c:pt>
              <c:pt idx="4">
                <c:v>Glokom</c:v>
              </c:pt>
              <c:pt idx="5">
                <c:v>Makula Dej.</c:v>
              </c:pt>
              <c:pt idx="6">
                <c:v>Retina Dek.</c:v>
              </c:pt>
              <c:pt idx="7">
                <c:v>Üveit</c:v>
              </c:pt>
            </c:strLit>
          </c:cat>
          <c:val>
            <c:numLit>
              <c:formatCode>General</c:formatCode>
              <c:ptCount val="8"/>
              <c:pt idx="0">
                <c:v>94.19</c:v>
              </c:pt>
              <c:pt idx="1">
                <c:v>96.39</c:v>
              </c:pt>
              <c:pt idx="2">
                <c:v>96.94</c:v>
              </c:pt>
              <c:pt idx="3">
                <c:v>98.63</c:v>
              </c:pt>
              <c:pt idx="4">
                <c:v>94.7</c:v>
              </c:pt>
              <c:pt idx="5">
                <c:v>97.45</c:v>
              </c:pt>
              <c:pt idx="6">
                <c:v>92.77</c:v>
              </c:pt>
              <c:pt idx="7">
                <c:v>95.51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50" b="1">
                  <a:solidFill>
                    <a:srgbClr val="F8FAFC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4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365A78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365A7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A7B5C8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365A7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F8FAFC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10243D"/>
        </a:solidFill>
        <a:ln xmlns:a="http://schemas.openxmlformats.org/drawingml/2006/main" w="0">
          <a:solidFill>
            <a:srgbClr val="10243D"/>
          </a:solidFill>
          <a:prstDash val="solid"/>
        </a:ln>
      </c:spPr>
    </c:plotArea>
    <c:plotVisOnly val="1"/>
  </c:chart>
  <c:spPr>
    <a:solidFill xmlns:a="http://schemas.openxmlformats.org/drawingml/2006/main">
      <a:srgbClr val="10243D"/>
    </a:solidFill>
  </c:spPr>
</c:chartSpace>
</file>

<file path=ppt/slides/charts/chart2.xml><?xml version="1.0" encoding="utf-8"?>
<c:chartSpace xmlns:c="http://schemas.openxmlformats.org/drawingml/2006/chart">
  <c:lang val="en-US"/>
  <c:roundedCorners val="0"/>
  <c:chart>
    <c:plotArea>
      <c:layout/>
      <c:barChart>
        <c:barDir val="bar"/>
        <c:grouping val="clustered"/>
        <c:varyColors val="0"/>
        <c:ser>
          <c:idx val="0"/>
          <c:order val="0"/>
          <c:tx>
            <c:v>F1</c:v>
          </c:tx>
          <c:spPr>
            <a:solidFill xmlns:a="http://schemas.openxmlformats.org/drawingml/2006/main">
              <a:srgbClr val="FBBF24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8"/>
              <c:pt idx="0">
                <c:v>N</c:v>
              </c:pt>
              <c:pt idx="1">
                <c:v>D</c:v>
              </c:pt>
              <c:pt idx="2">
                <c:v>G</c:v>
              </c:pt>
              <c:pt idx="3">
                <c:v>C</c:v>
              </c:pt>
              <c:pt idx="4">
                <c:v>A</c:v>
              </c:pt>
              <c:pt idx="5">
                <c:v>H</c:v>
              </c:pt>
              <c:pt idx="6">
                <c:v>M</c:v>
              </c:pt>
              <c:pt idx="7">
                <c:v>O</c:v>
              </c:pt>
            </c:strLit>
          </c:cat>
          <c:val>
            <c:numLit>
              <c:formatCode>General</c:formatCode>
              <c:ptCount val="8"/>
              <c:pt idx="0">
                <c:v>0.77</c:v>
              </c:pt>
              <c:pt idx="1">
                <c:v>0.67</c:v>
              </c:pt>
              <c:pt idx="2">
                <c:v>0.6</c:v>
              </c:pt>
              <c:pt idx="3">
                <c:v>0.84</c:v>
              </c:pt>
              <c:pt idx="4">
                <c:v>0.57</c:v>
              </c:pt>
              <c:pt idx="5">
                <c:v>0.33</c:v>
              </c:pt>
              <c:pt idx="6">
                <c:v>0.88</c:v>
              </c:pt>
              <c:pt idx="7">
                <c:v>0.53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50" b="1">
                  <a:solidFill>
                    <a:srgbClr val="F8FAFC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4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365A78"/>
              </a:solidFill>
              <a:prstDash val="solid"/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9525">
            <a:solidFill>
              <a:srgbClr val="365A7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A7B5C8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365A7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F8FAFC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10243D"/>
        </a:solidFill>
        <a:ln xmlns:a="http://schemas.openxmlformats.org/drawingml/2006/main" w="0">
          <a:solidFill>
            <a:srgbClr val="10243D"/>
          </a:solidFill>
          <a:prstDash val="solid"/>
        </a:ln>
      </c:spPr>
    </c:plotArea>
    <c:plotVisOnly val="1"/>
  </c:chart>
  <c:spPr>
    <a:solidFill xmlns:a="http://schemas.openxmlformats.org/drawingml/2006/main">
      <a:srgbClr val="10243D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7CA7A85-9D24-483B-A50E-A4AE14DEB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47B26A-8715-4721-A79F-FA3C9FDC4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66B62B-009E-4453-B33E-D29A4B57A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F2F4A0-8C48-427C-A413-D07D9C266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123950"/>
            <a:ext cx="723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0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ClinicaEye-NLP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97EA71-8C60-400D-AAD2-C6BEF6A9B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24050"/>
            <a:ext cx="762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A7B5C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A7B5C8"/>
                </a:solidFill>
                <a:latin typeface="Aptos"/>
                <a:ea typeface="Aptos"/>
                <a:cs typeface="Aptos"/>
              </a:rPr>
              <a:t>Oftalmoloji için çoklu-modaliteli klinik karar destek sistemi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483AE3-37DD-4617-BB44-8F18F2494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4953000" cy="192405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10243D"/>
          </a:solidFill>
          <a:ln xmlns:a="http://schemas.openxmlformats.org/drawingml/2006/main" w="9525">
            <a:solidFill>
              <a:srgbClr val="25476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992F23-3C95-45C7-85E4-0BBBC0E3A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4800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Mezuniyet Projesi Sunumu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94BF5C-A2BF-4C32-9E36-6F3F8FCA3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86150"/>
            <a:ext cx="438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Alper Can Özer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Tolga Direk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EF7554-5EAF-455B-B8E9-6C7DE8858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243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A7B5C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7B5C8"/>
                </a:solidFill>
                <a:latin typeface="Aptos"/>
                <a:ea typeface="Aptos"/>
                <a:cs typeface="Aptos"/>
              </a:rPr>
              <a:t>Danışman: Doç. Dr. Gıyasettin Özcan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1325CA-57FD-4258-9A89-CF399CA01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314450"/>
            <a:ext cx="2266950" cy="2266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43D"/>
          </a:solidFill>
          <a:ln xmlns:a="http://schemas.openxmlformats.org/drawingml/2006/main" w="9525">
            <a:solidFill>
              <a:srgbClr val="25476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A0987D-EAC7-4F60-B782-15F5F254E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819275"/>
            <a:ext cx="1238250" cy="1238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B2F"/>
          </a:solidFill>
          <a:ln xmlns:a="http://schemas.openxmlformats.org/drawingml/2006/main" w="9525">
            <a:solidFill>
              <a:srgbClr val="365A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C7F26B-5DBF-420A-8302-6DD3E475D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1907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32E107-40AE-40B4-9DA5-496C89190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3241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39474F-FF2C-4148-A3A0-7DFD45325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95750"/>
            <a:ext cx="3524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0243D"/>
          </a:solidFill>
          <a:ln xmlns:a="http://schemas.openxmlformats.org/drawingml/2006/main" w="9525">
            <a:solidFill>
              <a:srgbClr val="25476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E04DC7-2616-44C8-A3A5-ABF3E02EA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286250"/>
            <a:ext cx="3028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Bursa Uludağ Üniversitesi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A43884-9E75-4EDF-8647-2841B5A58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581525"/>
            <a:ext cx="3028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A7B5C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7B5C8"/>
                </a:solidFill>
                <a:latin typeface="Aptos"/>
                <a:ea typeface="Aptos"/>
                <a:cs typeface="Aptos"/>
              </a:rPr>
              <a:t>2026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132FFE-CF07-479C-A499-D81D01423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5476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3D3EC1-3F4D-4F89-B4FD-9E13CE406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6F819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8198"/>
                </a:solidFill>
                <a:latin typeface="Aptos"/>
                <a:ea typeface="Aptos"/>
                <a:cs typeface="Aptos"/>
              </a:rPr>
              <a:t>ClinicaEye-NLP | Bursa Uludağ Üniversitesi | 2026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264D4E-FC66-4712-80A0-926B81201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6419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0">
                <a:solidFill>
                  <a:srgbClr val="6F819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8198"/>
                </a:solidFill>
                <a:latin typeface="Aptos"/>
                <a:ea typeface="Aptos"/>
                <a:cs typeface="Aptos"/>
              </a:rPr>
              <a:t>Kaynak: Proje raporu ve README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74016E-7C85-4B70-A6AA-69B44B02A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5616384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D4A8E4D-242F-4A7D-92BF-76EFD46C9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2F2FE7-DA6E-447B-AD2A-487F0A804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1ACC30-E028-487E-B534-CD0EF229C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B411F4-E6BD-4618-9A33-371E11001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88726A-126D-4C33-B290-720E01C63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781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Oftalmolojide yapay zekaya neden ihtiyaç var?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A42E60-EB2F-4AAB-9678-0911FE8C2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A7B5C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7B5C8"/>
                </a:solidFill>
                <a:latin typeface="Aptos"/>
                <a:ea typeface="Aptos"/>
                <a:cs typeface="Aptos"/>
              </a:rPr>
              <a:t>Görme kaybı yükü, veri yoğunluğu ve açıklanabilirlik beklentisi aynı anda artıyor.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4637CF-FD5A-4DCB-8490-AD145AFE1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5476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C3BCD8-3155-4316-A7A7-00CC995D6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6F819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8198"/>
                </a:solidFill>
                <a:latin typeface="Aptos"/>
                <a:ea typeface="Aptos"/>
                <a:cs typeface="Aptos"/>
              </a:rPr>
              <a:t>ClinicaEye-NLP | Bursa Uludağ Üniversitesi |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627EED-34F3-4AF9-8A3B-B3AA82661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6419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0">
                <a:solidFill>
                  <a:srgbClr val="6F819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8198"/>
                </a:solidFill>
                <a:latin typeface="Aptos"/>
                <a:ea typeface="Aptos"/>
                <a:cs typeface="Aptos"/>
              </a:rPr>
              <a:t>Kaynak: WHO fact sheet; proje raporu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F1FD9E-E554-4200-B98A-BE4DF247E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F790FD-DC5F-4DFA-9943-29498723C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2333625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10243D"/>
          </a:solidFill>
          <a:ln xmlns:a="http://schemas.openxmlformats.org/drawingml/2006/main" w="9525">
            <a:solidFill>
              <a:srgbClr val="25476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23C05B-8B7B-4F90-92A2-CC8A5D7A2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571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0EBF3D-91BD-4C65-975B-E53625AB1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62150"/>
            <a:ext cx="1914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A7B5C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7B5C8"/>
                </a:solidFill>
                <a:latin typeface="Aptos"/>
                <a:ea typeface="Aptos"/>
                <a:cs typeface="Aptos"/>
              </a:rPr>
              <a:t>WHO KÜRESEL YÜK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4FADED-553F-4ED3-99EE-25ABF25D2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38375"/>
            <a:ext cx="19145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rPr>
              <a:t>2,2 mr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765B53-F747-4061-BA8A-A78D6B573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19400"/>
            <a:ext cx="1914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A7B5C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7B5C8"/>
                </a:solidFill>
                <a:latin typeface="Aptos"/>
                <a:ea typeface="Aptos"/>
                <a:cs typeface="Aptos"/>
              </a:rPr>
              <a:t>Yakın veya uzak görme bozukluğu yaşayan insan sayısı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F46479-EB06-4469-A1F7-79F76C173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90700"/>
            <a:ext cx="2333625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10243D"/>
          </a:solidFill>
          <a:ln xmlns:a="http://schemas.openxmlformats.org/drawingml/2006/main" w="9525">
            <a:solidFill>
              <a:srgbClr val="25476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C20CD6-E001-4279-8921-FF91E944E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90700"/>
            <a:ext cx="571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F9DE20-6192-4B91-AA39-485256209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962150"/>
            <a:ext cx="1914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A7B5C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7B5C8"/>
                </a:solidFill>
                <a:latin typeface="Aptos"/>
                <a:ea typeface="Aptos"/>
                <a:cs typeface="Aptos"/>
              </a:rPr>
              <a:t>ÖNLENEBİLİR / ELE ALINMAMIŞ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A81F57-0A98-4C4E-A1E4-E49FC1342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238375"/>
            <a:ext cx="19145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2DD4B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DD4BF"/>
                </a:solidFill>
                <a:latin typeface="Aptos Display"/>
                <a:ea typeface="Aptos Display"/>
                <a:cs typeface="Aptos Display"/>
              </a:rPr>
              <a:t>≥1 mr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347FF0-E980-4E2E-B6F8-3625809B8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19400"/>
            <a:ext cx="1914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A7B5C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7B5C8"/>
                </a:solidFill>
                <a:latin typeface="Aptos"/>
                <a:ea typeface="Aptos"/>
                <a:cs typeface="Aptos"/>
              </a:rPr>
              <a:t>Erken tanı ve erişimle iyileştirilebilir yük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4ECC25-F740-467E-B674-8FBE621A1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95450"/>
            <a:ext cx="200025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10243D"/>
          </a:solidFill>
          <a:ln xmlns:a="http://schemas.openxmlformats.org/drawingml/2006/main" w="9525">
            <a:solidFill>
              <a:srgbClr val="25476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A2F42D-77E7-4416-87A5-38F505985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95450"/>
            <a:ext cx="2000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E087A3-9EDE-4CBB-AAC2-D8130AC83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847850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Serbest metin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362A68-79C6-4F30-B718-B23617A2C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52650"/>
            <a:ext cx="16573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A7B5C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7B5C8"/>
                </a:solidFill>
                <a:latin typeface="Aptos"/>
                <a:ea typeface="Aptos"/>
                <a:cs typeface="Aptos"/>
              </a:rPr>
              <a:t>Anamnez ve muayene notları çoğu zaman yapılandırılmamış biçimde kalır.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BCF99F-2041-44A9-9DE8-7EBF66289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695450"/>
            <a:ext cx="200025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10243D"/>
          </a:solidFill>
          <a:ln xmlns:a="http://schemas.openxmlformats.org/drawingml/2006/main" w="9525">
            <a:solidFill>
              <a:srgbClr val="25476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62632B-602C-49C3-8D01-99D55459A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695450"/>
            <a:ext cx="2000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CA15A6-FCB6-47C5-B8C5-C503243E7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847850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Fundus yükü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ACF3D1B-B9EE-4034-B707-AE3F28315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52650"/>
            <a:ext cx="16573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A7B5C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7B5C8"/>
                </a:solidFill>
                <a:latin typeface="Aptos"/>
                <a:ea typeface="Aptos"/>
                <a:cs typeface="Aptos"/>
              </a:rPr>
              <a:t>Retina, makula ve optik disk bulguları zaman alıcı görsel inceleme gerektirir.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7D3E8B1-D275-4A33-B451-2C7D09F3C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48100"/>
            <a:ext cx="2000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0243D"/>
          </a:solidFill>
          <a:ln xmlns:a="http://schemas.openxmlformats.org/drawingml/2006/main" w="9525">
            <a:solidFill>
              <a:srgbClr val="25476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0F3FE80-94B2-41E1-B747-E5911D06D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48100"/>
            <a:ext cx="2000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27213DF-EF0B-41F2-B95C-E69A0BBAE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000500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Güven sorunu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3C1DC0E-2875-4E90-AD4A-B8A602F93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305300"/>
            <a:ext cx="16573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A7B5C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7B5C8"/>
                </a:solidFill>
                <a:latin typeface="Aptos"/>
                <a:ea typeface="Aptos"/>
                <a:cs typeface="Aptos"/>
              </a:rPr>
              <a:t>Kara kutu kararlar klinik kabulü ve denetlenebilirliği sınırlar.</a:t>
            </a:r>
          </a:p>
        </p:txBody>
      </p:sp>
    </p:spTree>
    <p:extLst>
      <p:ext uri="{BB962C8B-B14F-4D97-AF65-F5344CB8AC3E}">
        <p14:creationId xmlns:p14="http://schemas.microsoft.com/office/powerpoint/2010/main" val="949161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DE0D021-A4DE-4855-A048-B334EB6B6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EA7178-CEBD-424E-8CB8-0AC86D96E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9E4DB2-1800-485C-B92B-47FF9FF37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3F953F-8BBA-40A7-B346-834E237AE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ÖNERILEN ÇÖZÜM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3F9FA8-73EB-4036-9A11-62C1EFC5D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781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ClinicaEye-NLP ne yapar?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B0007C-06A5-470F-8AAE-A46984DF1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A7B5C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7B5C8"/>
                </a:solidFill>
                <a:latin typeface="Aptos"/>
                <a:ea typeface="Aptos"/>
                <a:cs typeface="Aptos"/>
              </a:rPr>
              <a:t>Metin ve fundus görüntüsünü birleştirerek karar destek çıktısı üretir.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E3F9EE-E295-4287-9577-D05C210C2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5476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AE3507-A100-4F70-AFED-B4BE316B8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6F819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8198"/>
                </a:solidFill>
                <a:latin typeface="Aptos"/>
                <a:ea typeface="Aptos"/>
                <a:cs typeface="Aptos"/>
              </a:rPr>
              <a:t>ClinicaEye-NLP | Bursa Uludağ Üniversitesi |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44EA6E-25B2-4817-B4AB-4F100B512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6419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0">
                <a:solidFill>
                  <a:srgbClr val="6F819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8198"/>
                </a:solidFill>
                <a:latin typeface="Aptos"/>
                <a:ea typeface="Aptos"/>
                <a:cs typeface="Aptos"/>
              </a:rPr>
              <a:t>Kaynak: README; proje raporu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6609D5-8F15-4B24-ACC8-28347A810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76E953-29EB-4B36-9693-15BC604D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21907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10243D"/>
          </a:solidFill>
          <a:ln xmlns:a="http://schemas.openxmlformats.org/drawingml/2006/main" w="9525">
            <a:solidFill>
              <a:srgbClr val="25476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B1519F-7E92-4BB9-8139-B2D5C27DD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479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CA5444-2FB4-4AA5-97D5-29EE38582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219325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Serbest klinik metin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7ACCB7-A497-4391-A4F6-C1BCE9325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95550"/>
            <a:ext cx="1562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A7B5C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7B5C8"/>
                </a:solidFill>
                <a:latin typeface="Aptos"/>
                <a:ea typeface="Aptos"/>
                <a:cs typeface="Aptos"/>
              </a:rPr>
              <a:t>Semptom, öykü, muayene notu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1CD2DE-B07E-4E85-A011-C1BCE46F5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38550"/>
            <a:ext cx="21907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10243D"/>
          </a:solidFill>
          <a:ln xmlns:a="http://schemas.openxmlformats.org/drawingml/2006/main" w="9525">
            <a:solidFill>
              <a:srgbClr val="25476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8F5479-437D-4F7F-A53A-C8320FDC9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909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181A2F-5920-4089-97B5-028C24936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62375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Fundus görüntüsü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0E6508-F939-41BF-B350-3A478DA4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38600"/>
            <a:ext cx="1562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A7B5C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7B5C8"/>
                </a:solidFill>
                <a:latin typeface="Aptos"/>
                <a:ea typeface="Aptos"/>
                <a:cs typeface="Aptos"/>
              </a:rPr>
              <a:t>Retina, makula, optik disk bulguları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A3F32B-64F7-407A-8BCF-DBFF5DF3E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28875"/>
            <a:ext cx="2381250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10243D"/>
          </a:solidFill>
          <a:ln xmlns:a="http://schemas.openxmlformats.org/drawingml/2006/main" w="9525">
            <a:solidFill>
              <a:srgbClr val="25476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EFD41D-0379-4D90-BB7A-FB9B1BC58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5812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1870B6-4816-418E-A958-3E41FD106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55270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Çoklu etiket çıkarımı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EF5FB1-A909-4294-A03E-EFD00C516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28925"/>
            <a:ext cx="1752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A7B5C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7B5C8"/>
                </a:solidFill>
                <a:latin typeface="Aptos"/>
                <a:ea typeface="Aptos"/>
                <a:cs typeface="Aptos"/>
              </a:rPr>
              <a:t>BioBERT + EfficientNet-B4 çıktıları geç füzyonda birleşir.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721D17-3631-42CA-8813-848A2C4FE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66950"/>
            <a:ext cx="2476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0243D"/>
          </a:solidFill>
          <a:ln xmlns:a="http://schemas.openxmlformats.org/drawingml/2006/main" w="9525">
            <a:solidFill>
              <a:srgbClr val="25476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DF7580-606D-4D17-A210-F10A52247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193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F31F37-A6AA-409C-AE16-67BABD32D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390775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Klinik karar desteği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50F1BE-72FB-4FF6-9E3F-B57332214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667000"/>
            <a:ext cx="18478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A7B5C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7B5C8"/>
                </a:solidFill>
                <a:latin typeface="Aptos"/>
                <a:ea typeface="Aptos"/>
                <a:cs typeface="Aptos"/>
              </a:rPr>
              <a:t>8 hastalık için olasılık, radar görünümü ve açıklanabilir kanıt.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68AE64-96DA-46AB-9CED-2AE2D3E45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590800"/>
            <a:ext cx="1428750" cy="314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8BDF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B1C334-5863-4C92-AA2D-00C03920A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133850"/>
            <a:ext cx="1428750" cy="-866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DD4B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1D57AD-15D7-4469-B6FF-1A9980DBD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067050"/>
            <a:ext cx="1447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BBF2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8270563-6FF3-4A26-AF0A-E472DC165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2959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Hedef: hekimin kararını değiştirmek değil, triage ve önceliklendirme için izlenebilir bir ikinci görüş sunmak.</a:t>
            </a:r>
          </a:p>
        </p:txBody>
      </p:sp>
    </p:spTree>
    <p:extLst>
      <p:ext uri="{BB962C8B-B14F-4D97-AF65-F5344CB8AC3E}">
        <p14:creationId xmlns:p14="http://schemas.microsoft.com/office/powerpoint/2010/main" val="19434565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DD18FA4-C070-4B10-9D8E-27FE17966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1D3ADE-37A9-4717-8749-844AABBE8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141AEA-3E89-48FB-9AC0-7AE8EF113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11287D-99EA-479E-A794-3BE84ED90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MIMARI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AE1AE4-A05D-464E-8C1D-65D919932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781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NLP + Vision + Backend + Frontend mikroservis akışı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4772EB-D7B9-4276-8F79-944FD3376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A7B5C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7B5C8"/>
                </a:solidFill>
                <a:latin typeface="Aptos"/>
                <a:ea typeface="Aptos"/>
                <a:cs typeface="Aptos"/>
              </a:rPr>
              <a:t>Servisler ayrık, çıktı katmanı klinik kullanıcıya tek arayüzden döner.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07BAA1-479D-41F3-ABC0-D18666338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5476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487C29-7E04-4CB5-8B3D-7EC58A35B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6F819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8198"/>
                </a:solidFill>
                <a:latin typeface="Aptos"/>
                <a:ea typeface="Aptos"/>
                <a:cs typeface="Aptos"/>
              </a:rPr>
              <a:t>ClinicaEye-NLP | Bursa Uludağ Üniversitesi |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319CFF-ED46-4570-B64C-981AE0859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6419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0">
                <a:solidFill>
                  <a:srgbClr val="6F819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8198"/>
                </a:solidFill>
                <a:latin typeface="Aptos"/>
                <a:ea typeface="Aptos"/>
                <a:cs typeface="Aptos"/>
              </a:rPr>
              <a:t>Kaynak: README; backend mimari notları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BEE564-D5B3-4CE4-B677-5E1C7292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2F00DE-2447-4AA1-8B0A-107ABF45F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43150"/>
            <a:ext cx="1714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0243D"/>
          </a:solidFill>
          <a:ln xmlns:a="http://schemas.openxmlformats.org/drawingml/2006/main" w="9525">
            <a:solidFill>
              <a:srgbClr val="25476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178F7D-8E76-45B6-BE22-E63ECF5E9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955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A535A2-5AE0-402F-9A4A-B64EC47D3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66975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Next.js UI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3474FE-82B2-4EA7-BCA3-90ACB2009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743200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A7B5C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7B5C8"/>
                </a:solidFill>
                <a:latin typeface="Aptos"/>
                <a:ea typeface="Aptos"/>
                <a:cs typeface="Aptos"/>
              </a:rPr>
              <a:t>Doktor arayüzü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A7B5C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7B5C8"/>
                </a:solidFill>
                <a:latin typeface="Aptos"/>
                <a:ea typeface="Aptos"/>
                <a:cs typeface="Aptos"/>
              </a:rPr>
              <a:t>radar + XAI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38EE42-C2DF-4AFA-B63F-BF8436308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43150"/>
            <a:ext cx="18097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0243D"/>
          </a:solidFill>
          <a:ln xmlns:a="http://schemas.openxmlformats.org/drawingml/2006/main" w="9525">
            <a:solidFill>
              <a:srgbClr val="25476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13A3E8-03CC-428F-BC33-B1162E0C7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4955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896236-24A5-4DBE-AC50-EED7A8EC4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46697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Express API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65D7EB-AD9E-4FAA-A306-C1511AA58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74320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A7B5C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7B5C8"/>
                </a:solidFill>
                <a:latin typeface="Aptos"/>
                <a:ea typeface="Aptos"/>
                <a:cs typeface="Aptos"/>
              </a:rPr>
              <a:t>Prisma ORM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A7B5C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7B5C8"/>
                </a:solidFill>
                <a:latin typeface="Aptos"/>
                <a:ea typeface="Aptos"/>
                <a:cs typeface="Aptos"/>
              </a:rPr>
              <a:t>MongoDB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76A0DE-A869-425B-800C-3BAF6AB10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733550"/>
            <a:ext cx="2000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0243D"/>
          </a:solidFill>
          <a:ln xmlns:a="http://schemas.openxmlformats.org/drawingml/2006/main" w="9525">
            <a:solidFill>
              <a:srgbClr val="25476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E6DE03-ACC9-49CD-85D6-209D5DA1B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18859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98CFFF-BE04-42BE-B2F6-B4EE6ADEC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1857375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NLP FastAPI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672C8E-C514-4797-93BF-301382817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213360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A7B5C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7B5C8"/>
                </a:solidFill>
                <a:latin typeface="Aptos"/>
                <a:ea typeface="Aptos"/>
                <a:cs typeface="Aptos"/>
              </a:rPr>
              <a:t>BioBERT ONNX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A7B5C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7B5C8"/>
                </a:solidFill>
                <a:latin typeface="Aptos"/>
                <a:ea typeface="Aptos"/>
                <a:cs typeface="Aptos"/>
              </a:rPr>
              <a:t>Integrated Gradients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C2BF98-FEA3-4954-B4CC-5604420A5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257550"/>
            <a:ext cx="2000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0243D"/>
          </a:solidFill>
          <a:ln xmlns:a="http://schemas.openxmlformats.org/drawingml/2006/main" w="9525">
            <a:solidFill>
              <a:srgbClr val="25476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AC195F-BE74-4461-B0CB-963D03882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34099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CCC213-382C-46D4-9A95-8604203FA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3381375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Vision FastAPI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411584-2937-4E29-867D-406BE1BA6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365760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A7B5C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7B5C8"/>
                </a:solidFill>
                <a:latin typeface="Aptos"/>
                <a:ea typeface="Aptos"/>
                <a:cs typeface="Aptos"/>
              </a:rPr>
              <a:t>EfficientNet-B4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A7B5C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7B5C8"/>
                </a:solidFill>
                <a:latin typeface="Aptos"/>
                <a:ea typeface="Aptos"/>
                <a:cs typeface="Aptos"/>
              </a:rPr>
              <a:t>LayerGradCam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FF98BCE-836E-40C9-954C-11838F634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43150"/>
            <a:ext cx="18097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0243D"/>
          </a:solidFill>
          <a:ln xmlns:a="http://schemas.openxmlformats.org/drawingml/2006/main" w="9525">
            <a:solidFill>
              <a:srgbClr val="25476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DBEA51-96B2-444A-9421-CEBF6434A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4955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E7678A-34B2-482E-B38D-69C4A6DF8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6697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Late Fusion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C297095-DE4D-404C-AD91-2927074AC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4320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A7B5C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7B5C8"/>
                </a:solidFill>
                <a:latin typeface="Aptos"/>
                <a:ea typeface="Aptos"/>
                <a:cs typeface="Aptos"/>
              </a:rPr>
              <a:t>Hibrit skorlama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A7B5C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7B5C8"/>
                </a:solidFill>
                <a:latin typeface="Aptos"/>
                <a:ea typeface="Aptos"/>
                <a:cs typeface="Aptos"/>
              </a:rPr>
              <a:t>çoklu etiket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EDF2A3-3435-4AEA-B934-CE02BA999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343150"/>
            <a:ext cx="1524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0243D"/>
          </a:solidFill>
          <a:ln xmlns:a="http://schemas.openxmlformats.org/drawingml/2006/main" w="9525">
            <a:solidFill>
              <a:srgbClr val="25476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4BBEB77-DAD5-4B11-BA31-532D56AB0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4955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5A80DE9-AD46-49C4-968A-C8C10BBD7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466975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Sonuç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B270E16-F317-45D8-82A2-4241CEA27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743200"/>
            <a:ext cx="895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A7B5C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7B5C8"/>
                </a:solidFill>
                <a:latin typeface="Aptos"/>
                <a:ea typeface="Aptos"/>
                <a:cs typeface="Aptos"/>
              </a:rPr>
              <a:t>Risk profili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A7B5C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7B5C8"/>
                </a:solidFill>
                <a:latin typeface="Aptos"/>
                <a:ea typeface="Aptos"/>
                <a:cs typeface="Aptos"/>
              </a:rPr>
              <a:t>açıklamalar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C6DFE7E-D396-487A-B994-892261692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771775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8BDF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FA03562-0ADB-41A7-8D02-62F9C6F15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09850"/>
            <a:ext cx="523875" cy="-447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BBF2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3AF79D2-B769-4C52-BD9C-5678E42B8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33700"/>
            <a:ext cx="523875" cy="752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B718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6061EBD-AD06-4989-B9E8-63D8777F8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162175"/>
            <a:ext cx="523875" cy="485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BBF2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E6027D1-3A98-402A-861C-BC2CE652D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686175"/>
            <a:ext cx="523875" cy="-752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B718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B73AC66-B12F-44A7-9E7D-437027C12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771775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D399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687847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DF64A2-B447-445D-9C2F-3B72561A6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1BD2F1-CAEC-49A1-ABE0-BF9F313D5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411CCC-75BA-4286-91DE-A0674E6D7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398B2A-CD04-4FC3-AEC5-878BF7000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VERI KÜMESI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8CE920-6C1D-4B5B-BE92-046DD4AAB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781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22.597 NLP örneği + ODIR-5K fundus verisi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1AF16E-FDA6-4F3F-A745-120065B04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A7B5C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7B5C8"/>
                </a:solidFill>
                <a:latin typeface="Aptos"/>
                <a:ea typeface="Aptos"/>
                <a:cs typeface="Aptos"/>
              </a:rPr>
              <a:t>Metin tarafında harmonizasyon; görüntü tarafında sınıf dengesizliği ve etiket uyumu ana zorluk.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963970-4375-49CA-A2CA-739C567D8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5476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D77313-F60A-441E-AE7D-99185C919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6F819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8198"/>
                </a:solidFill>
                <a:latin typeface="Aptos"/>
                <a:ea typeface="Aptos"/>
                <a:cs typeface="Aptos"/>
              </a:rPr>
              <a:t>ClinicaEye-NLP | Bursa Uludağ Üniversitesi |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609A4A-A715-47E6-85DD-5505EF1B3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6419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0">
                <a:solidFill>
                  <a:srgbClr val="6F819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8198"/>
                </a:solidFill>
                <a:latin typeface="Aptos"/>
                <a:ea typeface="Aptos"/>
                <a:cs typeface="Aptos"/>
              </a:rPr>
              <a:t>Kaynak: data_report.md; README; proje raporu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38B799-72D7-4296-8A17-8D4443227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D2A231-4A0E-4A54-8446-3F070CACD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71650"/>
            <a:ext cx="230505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10243D"/>
          </a:solidFill>
          <a:ln xmlns:a="http://schemas.openxmlformats.org/drawingml/2006/main" w="9525">
            <a:solidFill>
              <a:srgbClr val="25476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31102A-F110-4468-BD75-F093BD7DA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71650"/>
            <a:ext cx="571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2729B6-983C-4D0A-99BD-32BEEF430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43100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A7B5C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7B5C8"/>
                </a:solidFill>
                <a:latin typeface="Aptos"/>
                <a:ea typeface="Aptos"/>
                <a:cs typeface="Aptos"/>
              </a:rPr>
              <a:t>NLP TOPLAM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725A65-43E2-4252-8170-76F2E1696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19325"/>
            <a:ext cx="1885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rPr>
              <a:t>22.597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552507-75B6-44D1-848D-B29740372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00350"/>
            <a:ext cx="1885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A7B5C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7B5C8"/>
                </a:solidFill>
                <a:latin typeface="Aptos"/>
                <a:ea typeface="Aptos"/>
                <a:cs typeface="Aptos"/>
              </a:rPr>
              <a:t>etiketli örnek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B18B0A-D45D-408F-B13C-654546563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71650"/>
            <a:ext cx="230505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10243D"/>
          </a:solidFill>
          <a:ln xmlns:a="http://schemas.openxmlformats.org/drawingml/2006/main" w="9525">
            <a:solidFill>
              <a:srgbClr val="25476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A2A833-139B-4C56-9963-750617C4C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71650"/>
            <a:ext cx="571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1FD048-DC56-4233-856A-C70D710E4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43100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A7B5C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7B5C8"/>
                </a:solidFill>
                <a:latin typeface="Aptos"/>
                <a:ea typeface="Aptos"/>
                <a:cs typeface="Aptos"/>
              </a:rPr>
              <a:t>TRAIN / TEST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4B7C41-8633-4853-B305-EAD65D8FE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19325"/>
            <a:ext cx="1885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2DD4B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DD4BF"/>
                </a:solidFill>
                <a:latin typeface="Aptos Display"/>
                <a:ea typeface="Aptos Display"/>
                <a:cs typeface="Aptos Display"/>
              </a:rPr>
              <a:t>18.079 / 4.518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185DCE-30EA-4563-A05F-D09877E43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00350"/>
            <a:ext cx="1885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A7B5C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7B5C8"/>
                </a:solidFill>
                <a:latin typeface="Aptos"/>
                <a:ea typeface="Aptos"/>
                <a:cs typeface="Aptos"/>
              </a:rPr>
              <a:t>yaklaşık %80 / %20 ayrım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0314D9-062D-4E70-833B-6ADCF4DD3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771650"/>
            <a:ext cx="230505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10243D"/>
          </a:solidFill>
          <a:ln xmlns:a="http://schemas.openxmlformats.org/drawingml/2006/main" w="9525">
            <a:solidFill>
              <a:srgbClr val="25476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02D548-EF82-4011-A2D5-7CBF4599C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771650"/>
            <a:ext cx="571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9A8CFF-FAAB-43FF-AC28-5EA6531AA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943100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A7B5C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7B5C8"/>
                </a:solidFill>
                <a:latin typeface="Aptos"/>
                <a:ea typeface="Aptos"/>
                <a:cs typeface="Aptos"/>
              </a:rPr>
              <a:t>ÇOKLU ETİKET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FD649F-EF93-4E9B-8C63-EB4C3754F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219325"/>
            <a:ext cx="1885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BBF24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BBF24"/>
                </a:solidFill>
                <a:latin typeface="Aptos Display"/>
                <a:ea typeface="Aptos Display"/>
                <a:cs typeface="Aptos Display"/>
              </a:rPr>
              <a:t>7.935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D06B4B-5A11-44EA-B226-DD3482B3D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800350"/>
            <a:ext cx="1885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A7B5C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7B5C8"/>
                </a:solidFill>
                <a:latin typeface="Aptos"/>
                <a:ea typeface="Aptos"/>
                <a:cs typeface="Aptos"/>
              </a:rPr>
              <a:t>birden fazla tanı içeren kayıt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7CC41A-68A7-463C-AFC5-B32175EFD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771650"/>
            <a:ext cx="230505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10243D"/>
          </a:solidFill>
          <a:ln xmlns:a="http://schemas.openxmlformats.org/drawingml/2006/main" w="9525">
            <a:solidFill>
              <a:srgbClr val="25476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675803-8ACC-42B6-A82E-9F8E5EC39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771650"/>
            <a:ext cx="571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49C5D3-345D-4D4F-BB2D-C1F00F7CF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943100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A7B5C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7B5C8"/>
                </a:solidFill>
                <a:latin typeface="Aptos"/>
                <a:ea typeface="Aptos"/>
                <a:cs typeface="Aptos"/>
              </a:rPr>
              <a:t>ODIR-5K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A6E7F8-9A58-455E-9C6B-7C6A676CB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219325"/>
            <a:ext cx="1885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B7185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B7185"/>
                </a:solidFill>
                <a:latin typeface="Aptos Display"/>
                <a:ea typeface="Aptos Display"/>
                <a:cs typeface="Aptos Display"/>
              </a:rPr>
              <a:t>5.000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CCD3EC2-CE51-4F79-A5C4-9D9DE8529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800350"/>
            <a:ext cx="1885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A7B5C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7B5C8"/>
                </a:solidFill>
                <a:latin typeface="Aptos"/>
                <a:ea typeface="Aptos"/>
                <a:cs typeface="Aptos"/>
              </a:rPr>
              <a:t>hasta, 10.000 fundus görüntüsü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00B3C21-4C18-4929-A23C-7D8BBE58F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86200"/>
            <a:ext cx="2762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0243D"/>
          </a:solidFill>
          <a:ln xmlns:a="http://schemas.openxmlformats.org/drawingml/2006/main" w="9525">
            <a:solidFill>
              <a:srgbClr val="25476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84FA5C3-488A-45A4-B5BB-C879FEB4D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86200"/>
            <a:ext cx="2762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15D4BC5-7ACB-4F69-B651-95CD29B44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38600"/>
            <a:ext cx="2419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Harmonizasyon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6D399C7-039E-496F-9EF9-65CA2F97A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43400"/>
            <a:ext cx="2419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A7B5C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7B5C8"/>
                </a:solidFill>
                <a:latin typeface="Aptos"/>
                <a:ea typeface="Aptos"/>
                <a:cs typeface="Aptos"/>
              </a:rPr>
              <a:t>Kaggle Eye Disease, Eye-QA-PLUS ve ODIR-5K etiketleri sekiz hastalık şemasına eşlendi.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BB729AA-3335-476E-AC7F-97A020F3E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886200"/>
            <a:ext cx="2762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0243D"/>
          </a:solidFill>
          <a:ln xmlns:a="http://schemas.openxmlformats.org/drawingml/2006/main" w="9525">
            <a:solidFill>
              <a:srgbClr val="25476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A9F1C5C-F21D-4D46-AB93-95357F965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886200"/>
            <a:ext cx="2762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2EAA827-02B9-4223-AEB1-F4245E093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038600"/>
            <a:ext cx="2419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Sızıntı kontrolü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AFDC94F-D95F-4324-86C1-5B7C9BB4F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343400"/>
            <a:ext cx="2419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A7B5C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7B5C8"/>
                </a:solidFill>
                <a:latin typeface="Aptos"/>
                <a:ea typeface="Aptos"/>
                <a:cs typeface="Aptos"/>
              </a:rPr>
              <a:t>Eye-QA çıktıları yalnızca etiket sinyali olarak kullanıldı; train-test ayrımı korunarak yapıldı.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0BA9558-F5F3-4102-B16C-2AFA30F84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886200"/>
            <a:ext cx="2762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0243D"/>
          </a:solidFill>
          <a:ln xmlns:a="http://schemas.openxmlformats.org/drawingml/2006/main" w="9525">
            <a:solidFill>
              <a:srgbClr val="25476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56D6CF2-7E08-4209-9FAD-F9942D1FB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886200"/>
            <a:ext cx="2762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514B3D9-9B28-40E2-929F-F84D59F8F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38600"/>
            <a:ext cx="2419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Stratifikasyon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35AE6DF-8F50-4FED-9A84-E12230F2F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343400"/>
            <a:ext cx="2419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A7B5C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7B5C8"/>
                </a:solidFill>
                <a:latin typeface="Aptos"/>
                <a:ea typeface="Aptos"/>
                <a:cs typeface="Aptos"/>
              </a:rPr>
              <a:t>Nadir sınıfların testte korunması için çoklu etiket dengesi gözetildi.</a:t>
            </a:r>
          </a:p>
        </p:txBody>
      </p:sp>
    </p:spTree>
    <p:extLst>
      <p:ext uri="{BB962C8B-B14F-4D97-AF65-F5344CB8AC3E}">
        <p14:creationId xmlns:p14="http://schemas.microsoft.com/office/powerpoint/2010/main" val="730553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68E09D1-874D-46BE-8059-F3C48DB08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7CF0D6-C9C6-434D-82C5-B2AF6CB8A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101378-30FE-4B4A-B012-07FA0B2FC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ACEE54-572F-4E47-956F-9CC6BA22C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NLP MOTORU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F21328-0413-49D5-AEAA-2AFD8CB9A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781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BioBERT tabanlı çoklu etiket sınıflandırma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8FBE87-F038-4E55-991A-4FEBDDC79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A7B5C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7B5C8"/>
                </a:solidFill>
                <a:latin typeface="Aptos"/>
                <a:ea typeface="Aptos"/>
                <a:cs typeface="Aptos"/>
              </a:rPr>
              <a:t>Klinik metinde varlık, olumsuzluk ve eşik optimizasyonu birlikte ele alındı.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772B46-120D-4C55-86D7-844A06703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5476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1949F5-CBFD-43A2-8C12-B4D5B0DF3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6F819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8198"/>
                </a:solidFill>
                <a:latin typeface="Aptos"/>
                <a:ea typeface="Aptos"/>
                <a:cs typeface="Aptos"/>
              </a:rPr>
              <a:t>ClinicaEye-NLP | Bursa Uludağ Üniversitesi |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256D1B-959F-46D7-A03A-A075E63FD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6419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0">
                <a:solidFill>
                  <a:srgbClr val="6F819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8198"/>
                </a:solidFill>
                <a:latin typeface="Aptos"/>
                <a:ea typeface="Aptos"/>
                <a:cs typeface="Aptos"/>
              </a:rPr>
              <a:t>Kaynak: nlp_training_strategy.md; README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C5316B-34BF-47D0-952F-03DF73E19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3B5CA7-F16A-4244-9045-B05E0D41A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2571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0243D"/>
          </a:solidFill>
          <a:ln xmlns:a="http://schemas.openxmlformats.org/drawingml/2006/main" w="9525">
            <a:solidFill>
              <a:srgbClr val="25476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722ECA-8127-4552-A242-BB6390FFB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526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0F3BC8-1E55-4FD1-974C-13212C41C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124075"/>
            <a:ext cx="1943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1A7E4C-C260-40A7-97FB-4D97135E9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400300"/>
            <a:ext cx="1943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A7B5C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7B5C8"/>
                </a:solidFill>
                <a:latin typeface="Aptos"/>
                <a:ea typeface="Aptos"/>
                <a:cs typeface="Aptos"/>
              </a:rPr>
              <a:t>dmis-lab/biobert-v1.1-pubmed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A7B5C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7B5C8"/>
                </a:solidFill>
                <a:latin typeface="Aptos"/>
                <a:ea typeface="Aptos"/>
                <a:cs typeface="Aptos"/>
              </a:rPr>
              <a:t>BERT encoder + çoklu etiket başlığı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24FF8B-8973-48B1-8B22-C0A9FAEE2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52800"/>
            <a:ext cx="2571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0243D"/>
          </a:solidFill>
          <a:ln xmlns:a="http://schemas.openxmlformats.org/drawingml/2006/main" w="9525">
            <a:solidFill>
              <a:srgbClr val="25476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2D496A-6F53-4779-AFCD-4CF96F1BF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05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C2832B-E9BE-4561-8DE4-E4E5AB8C3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476625"/>
            <a:ext cx="1943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Olumsuzluk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E784CB-5480-4BC1-A194-0EC1928AA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752850"/>
            <a:ext cx="1943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A7B5C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7B5C8"/>
                </a:solidFill>
                <a:latin typeface="Aptos"/>
                <a:ea typeface="Aptos"/>
                <a:cs typeface="Aptos"/>
              </a:rPr>
              <a:t>NegEx benzeri pencere: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A7B5C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7B5C8"/>
                </a:solidFill>
                <a:latin typeface="Aptos"/>
                <a:ea typeface="Aptos"/>
                <a:cs typeface="Aptos"/>
              </a:rPr>
              <a:t>yoktur, izlenmedi, rastlanmadı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B1BA33-8E66-4D73-BBEF-257254B35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09750"/>
            <a:ext cx="2381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0243D"/>
          </a:solidFill>
          <a:ln xmlns:a="http://schemas.openxmlformats.org/drawingml/2006/main" w="9525">
            <a:solidFill>
              <a:srgbClr val="25476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2C1AEB-28EC-4D12-B8C2-5871F9F4F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09750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916E2E-5396-4C46-8C30-C26CFF04A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9621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Eğitim ayarı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95BA57-52AA-4D55-8082-7C9D0B3B4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266950"/>
            <a:ext cx="2038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A7B5C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7B5C8"/>
                </a:solidFill>
                <a:latin typeface="Aptos"/>
                <a:ea typeface="Aptos"/>
                <a:cs typeface="Aptos"/>
              </a:rPr>
              <a:t>Max seq 512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A7B5C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7B5C8"/>
                </a:solidFill>
                <a:latin typeface="Aptos"/>
                <a:ea typeface="Aptos"/>
                <a:cs typeface="Aptos"/>
              </a:rPr>
              <a:t>Effective batch 16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A7B5C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7B5C8"/>
                </a:solidFill>
                <a:latin typeface="Aptos"/>
                <a:ea typeface="Aptos"/>
                <a:cs typeface="Aptos"/>
              </a:rPr>
              <a:t>LR 3e-5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DB36C2-E4E2-48B1-9ACE-1CA360385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809750"/>
            <a:ext cx="2381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0243D"/>
          </a:solidFill>
          <a:ln xmlns:a="http://schemas.openxmlformats.org/drawingml/2006/main" w="9525">
            <a:solidFill>
              <a:srgbClr val="25476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AFD404-0EE5-4FDA-84A2-B0FFC0588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809750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AD8C3C-1EBD-4540-944F-77A5A7C38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19621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Optimizasyon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91BC1A-C72A-49C2-8161-9F35161FE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266950"/>
            <a:ext cx="2038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A7B5C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7B5C8"/>
                </a:solidFill>
                <a:latin typeface="Aptos"/>
                <a:ea typeface="Aptos"/>
                <a:cs typeface="Aptos"/>
              </a:rPr>
              <a:t>AdamW, weight decay 0.01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A7B5C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7B5C8"/>
                </a:solidFill>
                <a:latin typeface="Aptos"/>
                <a:ea typeface="Aptos"/>
                <a:cs typeface="Aptos"/>
              </a:rPr>
              <a:t>Linear warmup %10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A7B5C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7B5C8"/>
                </a:solidFill>
                <a:latin typeface="Aptos"/>
                <a:ea typeface="Aptos"/>
                <a:cs typeface="Aptos"/>
              </a:rPr>
              <a:t>10 epoch + early stopping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E3F3D0-0C6B-4E68-BD7A-E9394E4D5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371850"/>
            <a:ext cx="2381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0243D"/>
          </a:solidFill>
          <a:ln xmlns:a="http://schemas.openxmlformats.org/drawingml/2006/main" w="9525">
            <a:solidFill>
              <a:srgbClr val="25476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C42B5E-261F-4AC1-9C89-330B72797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371850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2EC6444-78A8-45AF-85BB-CB271817F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5242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Çıktı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6355F13-CB3C-469F-8932-24A3F8AFD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829050"/>
            <a:ext cx="2038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A7B5C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7B5C8"/>
                </a:solidFill>
                <a:latin typeface="Aptos"/>
                <a:ea typeface="Aptos"/>
                <a:cs typeface="Aptos"/>
              </a:rPr>
              <a:t>BCEWithLogitsLoss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A7B5C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7B5C8"/>
                </a:solidFill>
                <a:latin typeface="Aptos"/>
                <a:ea typeface="Aptos"/>
                <a:cs typeface="Aptos"/>
              </a:rPr>
              <a:t>Sınıf bazlı eşikler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A7B5C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7B5C8"/>
                </a:solidFill>
                <a:latin typeface="Aptos"/>
                <a:ea typeface="Aptos"/>
                <a:cs typeface="Aptos"/>
              </a:rPr>
              <a:t>ONNX CPU &lt;100 ms hedefi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B3932CF-C7B2-4C46-9770-8659120BA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812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3153"/>
          </a:solidFill>
          <a:ln xmlns:a="http://schemas.openxmlformats.org/drawingml/2006/main" w="9525">
            <a:solidFill>
              <a:srgbClr val="25476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17AEBC6-FAF1-4C27-852A-33B746714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552700"/>
            <a:ext cx="876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150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AF2011E-C268-4ED1-8633-9B0EC2A8D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3528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A7B5C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7B5C8"/>
                </a:solidFill>
                <a:latin typeface="Aptos"/>
                <a:ea typeface="Aptos"/>
                <a:cs typeface="Aptos"/>
              </a:rPr>
              <a:t>hastalık etiketi</a:t>
            </a:r>
          </a:p>
        </p:txBody>
      </p:sp>
    </p:spTree>
    <p:extLst>
      <p:ext uri="{BB962C8B-B14F-4D97-AF65-F5344CB8AC3E}">
        <p14:creationId xmlns:p14="http://schemas.microsoft.com/office/powerpoint/2010/main" val="12566033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9281D4-65A3-4DE4-B14F-5FF02705F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209CD8-2092-49C0-9BFF-0DF410764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7CDEC9-44F0-4510-AECE-1B598220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4F7405-5AF8-44CD-8D9F-CABFCBBC4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VISION MOTORU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AA36A5-BC68-47A3-B9B4-EF7D3BDDF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781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EfficientNet-B4 ile fundus sınıflandırma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0F5A06-D591-4C98-82FB-E5C37A15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A7B5C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7B5C8"/>
                </a:solidFill>
                <a:latin typeface="Aptos"/>
                <a:ea typeface="Aptos"/>
                <a:cs typeface="Aptos"/>
              </a:rPr>
              <a:t>Görüntü tarafında kalite farkı, nadir sınıflar ve etiket gürültüsü performansı sınırlıyor.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473541-804C-4A2E-A982-6E7D4FCB1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5476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9BFAFC-244E-4445-AC4A-407C2F052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6F819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8198"/>
                </a:solidFill>
                <a:latin typeface="Aptos"/>
                <a:ea typeface="Aptos"/>
                <a:cs typeface="Aptos"/>
              </a:rPr>
              <a:t>ClinicaEye-NLP | Bursa Uludağ Üniversitesi |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609A6A-CC14-4484-BD37-B284AC3DB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6419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0">
                <a:solidFill>
                  <a:srgbClr val="6F819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8198"/>
                </a:solidFill>
                <a:latin typeface="Aptos"/>
                <a:ea typeface="Aptos"/>
                <a:cs typeface="Aptos"/>
              </a:rPr>
              <a:t>Kaynak: vision_training_strategy.md; vision_evaluation_report.md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89E612-AD64-42DC-B6AF-07F820326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39B44C-582B-49EA-B959-3C364F252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33600"/>
            <a:ext cx="2428875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0243D"/>
          </a:solidFill>
          <a:ln xmlns:a="http://schemas.openxmlformats.org/drawingml/2006/main" w="9525">
            <a:solidFill>
              <a:srgbClr val="25476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B0FF70-6F64-4497-8165-74071EEE7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860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E914F0-BEC8-414A-B776-569B1102F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257425"/>
            <a:ext cx="1800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B4F157-3584-4676-AFEE-4AF2ABADA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533650"/>
            <a:ext cx="18002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A7B5C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7B5C8"/>
                </a:solidFill>
                <a:latin typeface="Aptos"/>
                <a:ea typeface="Aptos"/>
                <a:cs typeface="Aptos"/>
              </a:rPr>
              <a:t>ImageNet ön eğitimli EfficientNet-B4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A7B5C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7B5C8"/>
                </a:solidFill>
                <a:latin typeface="Aptos"/>
                <a:ea typeface="Aptos"/>
                <a:cs typeface="Aptos"/>
              </a:rPr>
              <a:t>GAP + dropout 0.3 + 8 sınıf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4E6CA0-92A3-486A-A83D-CE57161DD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2428875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0243D"/>
          </a:solidFill>
          <a:ln xmlns:a="http://schemas.openxmlformats.org/drawingml/2006/main" w="9525">
            <a:solidFill>
              <a:srgbClr val="25476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3132A5-6D9A-43D5-BC30-CA2357889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671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D83DDF-4D2E-4086-9506-B612A5600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838575"/>
            <a:ext cx="1800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Dengesizlik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8E1FE9-AF8B-40DB-9F29-8677334D3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14800"/>
            <a:ext cx="18002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A7B5C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7B5C8"/>
                </a:solidFill>
                <a:latin typeface="Aptos"/>
                <a:ea typeface="Aptos"/>
                <a:cs typeface="Aptos"/>
              </a:rPr>
              <a:t>Dynamic pos_weight ile nadir sınıflara ağırlık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7484F8-694F-4AC9-9FA2-7D8ED630D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526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Ben Graham ön işleme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F0D89A-0F08-466B-81C3-6DAF4909F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90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3153"/>
          </a:solidFill>
          <a:ln xmlns:a="http://schemas.openxmlformats.org/drawingml/2006/main" w="9525">
            <a:solidFill>
              <a:srgbClr val="25476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7D519A-D5F2-43E3-BE4B-AA60D8469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66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47172C-95AC-4238-8A63-27A7B2E37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2479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A7B5C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7B5C8"/>
                </a:solidFill>
                <a:latin typeface="Aptos"/>
                <a:ea typeface="Aptos"/>
                <a:cs typeface="Aptos"/>
              </a:rPr>
              <a:t>Dairesel kırpma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5103CF-52C4-4C64-A179-C6B8A0344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190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3153"/>
          </a:solidFill>
          <a:ln xmlns:a="http://schemas.openxmlformats.org/drawingml/2006/main" w="9525">
            <a:solidFill>
              <a:srgbClr val="25476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060C3C-81DB-422B-BAE1-5589A5AD6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266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B70CF0-8045-427F-BA5F-E6318057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2479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A7B5C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7B5C8"/>
                </a:solidFill>
                <a:latin typeface="Aptos"/>
                <a:ea typeface="Aptos"/>
                <a:cs typeface="Aptos"/>
              </a:rPr>
              <a:t>RGB / kanal düzenleme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8D2848-B75B-4055-8667-38168A746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956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3153"/>
          </a:solidFill>
          <a:ln xmlns:a="http://schemas.openxmlformats.org/drawingml/2006/main" w="9525">
            <a:solidFill>
              <a:srgbClr val="25476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1E2E33-3F94-4F2D-9153-1657E7078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718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B03366-022D-41BA-9310-009DB5F78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3528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A7B5C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7B5C8"/>
                </a:solidFill>
                <a:latin typeface="Aptos"/>
                <a:ea typeface="Aptos"/>
                <a:cs typeface="Aptos"/>
              </a:rPr>
              <a:t>Gaussian blur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1730451-07A4-4464-A680-38C21DC0E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2956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9525">
            <a:solidFill>
              <a:srgbClr val="25476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ED0AD1E-E047-4293-8157-B4A98FDDA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3718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D722DC-5796-40ED-AD76-454C3F4C2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3528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A7B5C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7B5C8"/>
                </a:solidFill>
                <a:latin typeface="Aptos"/>
                <a:ea typeface="Aptos"/>
                <a:cs typeface="Aptos"/>
              </a:rPr>
              <a:t>Yerel kontrast ve renk düzeltme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5F1D129-9761-4D86-9999-A7B991BA5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28850"/>
            <a:ext cx="219075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10243D"/>
          </a:solidFill>
          <a:ln xmlns:a="http://schemas.openxmlformats.org/drawingml/2006/main" w="9525">
            <a:solidFill>
              <a:srgbClr val="25476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AE07BCC-1717-4219-AF55-21F60DC1E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2885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429B5F2-4458-48D0-9A62-3E08A2319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381250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Eğitim konfigürasyonu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A3E0BC4-F360-4EC7-A72A-9D9806E31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686050"/>
            <a:ext cx="18478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A7B5C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7B5C8"/>
                </a:solidFill>
                <a:latin typeface="Aptos"/>
                <a:ea typeface="Aptos"/>
                <a:cs typeface="Aptos"/>
              </a:rPr>
              <a:t>380x380 giriş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A7B5C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7B5C8"/>
                </a:solidFill>
                <a:latin typeface="Aptos"/>
                <a:ea typeface="Aptos"/>
                <a:cs typeface="Aptos"/>
              </a:rPr>
              <a:t>AdamW LR 3e-4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A7B5C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7B5C8"/>
                </a:solidFill>
                <a:latin typeface="Aptos"/>
                <a:ea typeface="Aptos"/>
                <a:cs typeface="Aptos"/>
              </a:rPr>
              <a:t>ReduceLROnPlateau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A7B5C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7B5C8"/>
                </a:solidFill>
                <a:latin typeface="Aptos"/>
                <a:ea typeface="Aptos"/>
                <a:cs typeface="Aptos"/>
              </a:rPr>
              <a:t>Konservatif augmentasyon</a:t>
            </a:r>
          </a:p>
        </p:txBody>
      </p:sp>
    </p:spTree>
    <p:extLst>
      <p:ext uri="{BB962C8B-B14F-4D97-AF65-F5344CB8AC3E}">
        <p14:creationId xmlns:p14="http://schemas.microsoft.com/office/powerpoint/2010/main" val="145222942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0ACE1A2-8A4D-44EC-856C-1780E4BB8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7C01EF-4C2B-43A2-A7E2-579C208DA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A248F2-E284-42E8-98A1-7C864CE7D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CA9526-B3DC-47F5-8E08-0679FA5AE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AÇIKLANABILIR YAPAY ZEKA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70F900-8F49-4DBD-829B-4A340905A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781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Integrated Gradients + LayerGradCam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3477A8-BDA2-42EE-9DF4-8A7DAC594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A7B5C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7B5C8"/>
                </a:solidFill>
                <a:latin typeface="Aptos"/>
                <a:ea typeface="Aptos"/>
                <a:cs typeface="Aptos"/>
              </a:rPr>
              <a:t>Klinik kullanıcı için skor kadar kanıtın görünür olması da kritik.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91EC9D-1AF8-4E30-8B2E-BDA533EB1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5476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95B60D-D52A-428B-B886-7E0A348E6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6F819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8198"/>
                </a:solidFill>
                <a:latin typeface="Aptos"/>
                <a:ea typeface="Aptos"/>
                <a:cs typeface="Aptos"/>
              </a:rPr>
              <a:t>ClinicaEye-NLP | Bursa Uludağ Üniversitesi |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7236BA-A160-4869-8DAD-796FB1929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6419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0">
                <a:solidFill>
                  <a:srgbClr val="6F819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8198"/>
                </a:solidFill>
                <a:latin typeface="Aptos"/>
                <a:ea typeface="Aptos"/>
                <a:cs typeface="Aptos"/>
              </a:rPr>
              <a:t>Kaynak: README; proje raporu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637625-D59A-499C-A4CD-2F571B7FD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6023C3-B9F0-481C-A532-0B691F03B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09750"/>
            <a:ext cx="4810125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0243D"/>
          </a:solidFill>
          <a:ln xmlns:a="http://schemas.openxmlformats.org/drawingml/2006/main" w="9525">
            <a:solidFill>
              <a:srgbClr val="25476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0983A6-C853-4B82-9BD3-61A990907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764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NLP: token önem haritası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667148-A8D9-404C-8248-92C17393F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05100"/>
            <a:ext cx="3905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hasta görmede bulanıklık tarif ediyor; diyabetik retinopati bulgusu izlenmedi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504E5D-F47D-4C01-8609-AFB7E92F8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28950"/>
            <a:ext cx="11430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7F1D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AC0DC7-9A61-4CB0-9496-B94FA15B6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028950"/>
            <a:ext cx="1657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453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0F3A7F-9C3F-44DB-96F6-17CE04AD9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7528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A7B5C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7B5C8"/>
                </a:solidFill>
                <a:latin typeface="Aptos"/>
                <a:ea typeface="Aptos"/>
                <a:cs typeface="Aptos"/>
              </a:rPr>
              <a:t>olumsuzluk kapsamı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9253D8-BEA4-47C3-8A55-F52988575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09750"/>
            <a:ext cx="4810125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0243D"/>
          </a:solidFill>
          <a:ln xmlns:a="http://schemas.openxmlformats.org/drawingml/2006/main" w="9525">
            <a:solidFill>
              <a:srgbClr val="25476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FBD827-80A8-4650-A641-52A3FF308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764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Vision: GradCam sıcaklık haritası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ACDA89-DF1B-4CED-B161-B59530041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47950"/>
            <a:ext cx="2000250" cy="133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B2F"/>
          </a:solidFill>
          <a:ln xmlns:a="http://schemas.openxmlformats.org/drawingml/2006/main" w="9525">
            <a:solidFill>
              <a:srgbClr val="365A7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28DFA1-FE69-4493-9002-9CAB2464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95600"/>
            <a:ext cx="8953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1D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5CD895-250D-4A35-9957-448C9FE7F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095625"/>
            <a:ext cx="36195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4761B2-5C21-4D7E-845D-4B4F92CC8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09575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>
                <a:solidFill>
                  <a:srgbClr val="A7B5C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7B5C8"/>
                </a:solidFill>
                <a:latin typeface="Aptos"/>
                <a:ea typeface="Aptos"/>
                <a:cs typeface="Aptos"/>
              </a:rPr>
              <a:t>Modelin görüntüde ağırlık verdiği alanlar denetlenebilir hale gelir.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FFA4EB-C799-4746-9FBA-B48D74570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067300"/>
            <a:ext cx="84772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0243D"/>
          </a:solidFill>
          <a:ln xmlns:a="http://schemas.openxmlformats.org/drawingml/2006/main" w="9525">
            <a:solidFill>
              <a:srgbClr val="25476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63BB9D-9571-4F0C-ADD4-126E4BA27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067300"/>
            <a:ext cx="8477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40641A-670B-4BFF-8DA0-4ECFB1BCE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219700"/>
            <a:ext cx="813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Klinik değer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3357E9-85A0-405F-A6D2-0C9523AB0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524500"/>
            <a:ext cx="813435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A7B5C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7B5C8"/>
                </a:solidFill>
                <a:latin typeface="Aptos"/>
                <a:ea typeface="Aptos"/>
                <a:cs typeface="Aptos"/>
              </a:rPr>
              <a:t>Güven, denetlenebilirlik ve triage önceliği için modelin gerekçesi kullanıcıya skorla birlikte gösterilir.</a:t>
            </a:r>
          </a:p>
        </p:txBody>
      </p:sp>
    </p:spTree>
    <p:extLst>
      <p:ext uri="{BB962C8B-B14F-4D97-AF65-F5344CB8AC3E}">
        <p14:creationId xmlns:p14="http://schemas.microsoft.com/office/powerpoint/2010/main" val="93828847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284A35-2912-4CA4-B982-54436B28A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28BFB8-AB42-455E-B4B9-A7F98146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E2A058-F767-48C0-AD44-34BFD5555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DC3E7E-F712-4C07-B783-0B4CD0D13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NLP SONUÇLARI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5BA70B-1C58-4D28-96FD-8C8B691E0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781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F1 Macro 95,82% ile hedefin üzerinde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8FCB26-8C12-4466-AA22-F178E1E2B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A7B5C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7B5C8"/>
                </a:solidFill>
                <a:latin typeface="Aptos"/>
                <a:ea typeface="Aptos"/>
                <a:cs typeface="Aptos"/>
              </a:rPr>
              <a:t>Test kümesi: 4.518 örnek; çoklu etiket metin sınıflandırma.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9DF9A1-9545-4A3F-A836-DB66C498A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5476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D90966-CBC0-43B1-9E8C-C4E7BB180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6F819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8198"/>
                </a:solidFill>
                <a:latin typeface="Aptos"/>
                <a:ea typeface="Aptos"/>
                <a:cs typeface="Aptos"/>
              </a:rPr>
              <a:t>ClinicaEye-NLP | Bursa Uludağ Üniversitesi |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A8409F-FBB1-466B-9DE6-1CF28804F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6419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0">
                <a:solidFill>
                  <a:srgbClr val="6F819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8198"/>
                </a:solidFill>
                <a:latin typeface="Aptos"/>
                <a:ea typeface="Aptos"/>
                <a:cs typeface="Aptos"/>
              </a:rPr>
              <a:t>Kaynak: nlp_evaluation_report.md; README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16FF9C-8D1F-410B-BD54-AC74F7FE5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44B86C-F473-4B11-8008-8D3C234A4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21907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10243D"/>
          </a:solidFill>
          <a:ln xmlns:a="http://schemas.openxmlformats.org/drawingml/2006/main" w="9525">
            <a:solidFill>
              <a:srgbClr val="25476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D3648A-6E58-4790-B579-62AA5CDCB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571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F72100-C18E-4C9D-836D-9419C1986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2405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A7B5C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7B5C8"/>
                </a:solidFill>
                <a:latin typeface="Aptos"/>
                <a:ea typeface="Aptos"/>
                <a:cs typeface="Aptos"/>
              </a:rPr>
              <a:t>F1 MACRO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8AACB8-29DB-4A53-8CB5-526564E85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00275"/>
            <a:ext cx="1771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2DD4B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DD4BF"/>
                </a:solidFill>
                <a:latin typeface="Aptos Display"/>
                <a:ea typeface="Aptos Display"/>
                <a:cs typeface="Aptos Display"/>
              </a:rPr>
              <a:t>95,82%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9F0D91-CF1E-4D96-A37F-492B6DA4A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81300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A7B5C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7B5C8"/>
                </a:solidFill>
                <a:latin typeface="Aptos"/>
                <a:ea typeface="Aptos"/>
                <a:cs typeface="Aptos"/>
              </a:rPr>
              <a:t>Sınıflar arası dengeli başarı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B60C1E-F04E-4C4F-80CC-F5CCD2104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48050"/>
            <a:ext cx="21907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10243D"/>
          </a:solidFill>
          <a:ln xmlns:a="http://schemas.openxmlformats.org/drawingml/2006/main" w="9525">
            <a:solidFill>
              <a:srgbClr val="25476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30F326-5D85-4A2A-8861-F81B8580B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48050"/>
            <a:ext cx="571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683080-426C-4DEE-BF3E-D83BFB0F1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A7B5C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7B5C8"/>
                </a:solidFill>
                <a:latin typeface="Aptos"/>
                <a:ea typeface="Aptos"/>
                <a:cs typeface="Aptos"/>
              </a:rPr>
              <a:t>F1 MICRO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52EFCC-0578-4F11-ABF6-DAF56C7D2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95725"/>
            <a:ext cx="1771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rPr>
              <a:t>95,69%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52F855-861E-4AB4-8AA6-95BF43E1C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76750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A7B5C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7B5C8"/>
                </a:solidFill>
                <a:latin typeface="Aptos"/>
                <a:ea typeface="Aptos"/>
                <a:cs typeface="Aptos"/>
              </a:rPr>
              <a:t>Genel etiket başarımı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459077-D5DE-481A-9BDE-36BCDC0CB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1562100"/>
            <a:ext cx="7267575" cy="3695700"/>
          </a:xfrm>
          <a:prstGeom xmlns:a="http://schemas.openxmlformats.org/drawingml/2006/main" prst="roundRect">
            <a:avLst>
              <a:gd name="adj" fmla="val 2062"/>
            </a:avLst>
          </a:prstGeom>
          <a:solidFill xmlns:a="http://schemas.openxmlformats.org/drawingml/2006/main">
            <a:srgbClr val="10243D"/>
          </a:solidFill>
          <a:ln xmlns:a="http://schemas.openxmlformats.org/drawingml/2006/main" w="9525">
            <a:solidFill>
              <a:srgbClr val="254766"/>
            </a:solidFill>
            <a:prstDash val="solid"/>
          </a:ln>
        </p:spPr>
      </p:sp>
      <p:graphicFrame>
        <p:nvGraphicFramePr>
          <p:cNvPr id="48" name="Chart"/>
          <p:cNvGraphicFramePr/>
          <p:nvPr/>
        </p:nvGraphicFramePr>
        <p:xfrm>
          <a:off xmlns:a="http://schemas.openxmlformats.org/drawingml/2006/main" x="3667125" y="1695450"/>
          <a:ext xmlns:a="http://schemas.openxmlformats.org/drawingml/2006/main" cx="7000875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52e9e2a12f1449b"/>
          </a:graphicData>
        </a:graphic>
      </p:graphicFrame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A4C75F-9335-49D4-BA57-D94C6D0CF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457825"/>
            <a:ext cx="37147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0B1B2F"/>
          </a:solidFill>
          <a:ln xmlns:a="http://schemas.openxmlformats.org/drawingml/2006/main" w="9525">
            <a:solidFill>
              <a:srgbClr val="365A7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EF004B-C5A4-44C8-B599-082A9F342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457825"/>
            <a:ext cx="3559473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2DD4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72BBF0-FEF2-4F2D-9AF4-968B755DF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191125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A7B5C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7B5C8"/>
                </a:solidFill>
                <a:latin typeface="Aptos"/>
                <a:ea typeface="Aptos"/>
                <a:cs typeface="Aptos"/>
              </a:rPr>
              <a:t>Hedef ≥85% aşıldı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25342C-866D-4B6A-9336-1F7EA04F2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3149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Hamming Loss: 0,0175</a:t>
            </a:r>
          </a:p>
        </p:txBody>
      </p:sp>
    </p:spTree>
    <p:extLst>
      <p:ext uri="{BB962C8B-B14F-4D97-AF65-F5344CB8AC3E}">
        <p14:creationId xmlns:p14="http://schemas.microsoft.com/office/powerpoint/2010/main" val="210417771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C03104-4D44-472B-BE98-FCBC1E7C8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BBA9B2-44B1-49FD-B3B9-963EFA425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2AC088-A64E-4E1E-9C79-83BF2638C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32C667-C87E-40AB-8BE7-2B9E2D1ED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VISION SONUÇLARI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4624A0-143B-4DC8-ADD8-519FCD23F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781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F1 Macro 0,6487: hedefe yakın fakat altında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EAC959-DE60-438E-811A-EAE661E91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A7B5C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7B5C8"/>
                </a:solidFill>
                <a:latin typeface="Aptos"/>
                <a:ea typeface="Aptos"/>
                <a:cs typeface="Aptos"/>
              </a:rPr>
              <a:t>ODIR-5K fundus sınıflandırmasında güçlü ve zayıf sınıflar belirgin ayrışıyor.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98E8F7-45C1-444D-B301-2918830B8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5476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14258F-376E-483B-BDC8-35AB010A3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6F819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8198"/>
                </a:solidFill>
                <a:latin typeface="Aptos"/>
                <a:ea typeface="Aptos"/>
                <a:cs typeface="Aptos"/>
              </a:rPr>
              <a:t>ClinicaEye-NLP | Bursa Uludağ Üniversitesi |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4A29A7-1706-40CB-8158-1A42CAC26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6419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0">
                <a:solidFill>
                  <a:srgbClr val="6F819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8198"/>
                </a:solidFill>
                <a:latin typeface="Aptos"/>
                <a:ea typeface="Aptos"/>
                <a:cs typeface="Aptos"/>
              </a:rPr>
              <a:t>Kaynak: vision_evaluation_report.md; README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35E624-B4C9-4608-8858-D74E3F69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E79D01-93F0-4980-95E6-2E04D37CE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233362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0243D"/>
          </a:solidFill>
          <a:ln xmlns:a="http://schemas.openxmlformats.org/drawingml/2006/main" w="9525">
            <a:solidFill>
              <a:srgbClr val="25476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95CF02-EC5A-46AE-A25F-3E7EB1DC2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FB0021-A6F8-4ACA-88B9-B935D1C79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43100"/>
            <a:ext cx="1914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A7B5C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7B5C8"/>
                </a:solidFill>
                <a:latin typeface="Aptos"/>
                <a:ea typeface="Aptos"/>
                <a:cs typeface="Aptos"/>
              </a:rPr>
              <a:t>EN İYİ VAL F1 MACRO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098B89-6F71-45F5-A10E-138A93C98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19325"/>
            <a:ext cx="19145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BBF24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BBF24"/>
                </a:solidFill>
                <a:latin typeface="Aptos Display"/>
                <a:ea typeface="Aptos Display"/>
                <a:cs typeface="Aptos Display"/>
              </a:rPr>
              <a:t>0,6487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1FB577-03EB-4B46-B90F-324853742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1914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A7B5C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7B5C8"/>
                </a:solidFill>
                <a:latin typeface="Aptos"/>
                <a:ea typeface="Aptos"/>
                <a:cs typeface="Aptos"/>
              </a:rPr>
              <a:t>Epoch 19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77F934-1ACD-425E-87B9-3FAA5584B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233362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0243D"/>
          </a:solidFill>
          <a:ln xmlns:a="http://schemas.openxmlformats.org/drawingml/2006/main" w="9525">
            <a:solidFill>
              <a:srgbClr val="25476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0527D6-DB40-4CE6-BD7E-F60929A06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09F734-66ED-4CA9-AEF4-B5B70AC69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14750"/>
            <a:ext cx="1914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A7B5C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7B5C8"/>
                </a:solidFill>
                <a:latin typeface="Aptos"/>
                <a:ea typeface="Aptos"/>
                <a:cs typeface="Aptos"/>
              </a:rPr>
              <a:t>HEDEF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80DEF7-2332-4D73-9AC3-1E3D9F984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19145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B7185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B7185"/>
                </a:solidFill>
                <a:latin typeface="Aptos Display"/>
                <a:ea typeface="Aptos Display"/>
                <a:cs typeface="Aptos Display"/>
              </a:rPr>
              <a:t>0,70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2B394C-541E-44F1-B5F0-E4FE39C9F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72000"/>
            <a:ext cx="1914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A7B5C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7B5C8"/>
                </a:solidFill>
                <a:latin typeface="Aptos"/>
                <a:ea typeface="Aptos"/>
                <a:cs typeface="Aptos"/>
              </a:rPr>
              <a:t>Açık performans açığı: 0,0513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31BF7C-4030-4230-BBF5-BC9372D8B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1562100"/>
            <a:ext cx="6934200" cy="3409950"/>
          </a:xfrm>
          <a:prstGeom xmlns:a="http://schemas.openxmlformats.org/drawingml/2006/main" prst="roundRect">
            <a:avLst>
              <a:gd name="adj" fmla="val 2235"/>
            </a:avLst>
          </a:prstGeom>
          <a:solidFill xmlns:a="http://schemas.openxmlformats.org/drawingml/2006/main">
            <a:srgbClr val="10243D"/>
          </a:solidFill>
          <a:ln xmlns:a="http://schemas.openxmlformats.org/drawingml/2006/main" w="9525">
            <a:solidFill>
              <a:srgbClr val="254766"/>
            </a:solidFill>
            <a:prstDash val="solid"/>
          </a:ln>
        </p:spPr>
      </p:sp>
      <p:graphicFrame>
        <p:nvGraphicFramePr>
          <p:cNvPr id="48" name="Chart"/>
          <p:cNvGraphicFramePr/>
          <p:nvPr/>
        </p:nvGraphicFramePr>
        <p:xfrm>
          <a:off xmlns:a="http://schemas.openxmlformats.org/drawingml/2006/main" x="3857625" y="1695450"/>
          <a:ext xmlns:a="http://schemas.openxmlformats.org/drawingml/2006/main" cx="66675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e37cc91fc3244ec"/>
          </a:graphicData>
        </a:graphic>
      </p:graphicFrame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224490-633C-4D84-9EE3-9C4D7A020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391150"/>
            <a:ext cx="43243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0B1B2F"/>
          </a:solidFill>
          <a:ln xmlns:a="http://schemas.openxmlformats.org/drawingml/2006/main" w="9525">
            <a:solidFill>
              <a:srgbClr val="365A7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D96DDB-52D3-4B1D-8900-CF83C9611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391150"/>
            <a:ext cx="4007437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BBF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30B3E1-973D-459A-B13B-4F8FE9257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124450"/>
            <a:ext cx="432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A7B5C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7B5C8"/>
                </a:solidFill>
                <a:latin typeface="Aptos"/>
                <a:ea typeface="Aptos"/>
                <a:cs typeface="Aptos"/>
              </a:rPr>
              <a:t>0,70 hedefe göre ilerleme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8EF438-100A-4068-A507-7EBE573F7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124450"/>
            <a:ext cx="223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A7B5C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7B5C8"/>
                </a:solidFill>
                <a:latin typeface="Aptos"/>
                <a:ea typeface="Aptos"/>
                <a:cs typeface="Aptos"/>
              </a:rPr>
              <a:t>Güçlü: M 0,88, C 0,84, N 0,77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A7B5C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7B5C8"/>
                </a:solidFill>
                <a:latin typeface="Aptos"/>
                <a:ea typeface="Aptos"/>
                <a:cs typeface="Aptos"/>
              </a:rPr>
              <a:t>Zayıf: H 0,33; nadir sınıf ve kalite sorunu etkili</a:t>
            </a:r>
          </a:p>
        </p:txBody>
      </p:sp>
    </p:spTree>
    <p:extLst>
      <p:ext uri="{BB962C8B-B14F-4D97-AF65-F5344CB8AC3E}">
        <p14:creationId xmlns:p14="http://schemas.microsoft.com/office/powerpoint/2010/main" val="157832247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147C3C-6AB3-44CB-9A3D-A5C16B5FA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93D133-092B-4577-AF82-6AB8AB301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6A6BC6-3F53-4596-B2D9-372A4CA5F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7A7F9D-F199-41B0-8D55-9A6BCB576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UÇTAN UCA AKIŞ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3CB900-CD94-4D61-9772-8C58D998E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781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Bir hekim sorgusu sistem içinde nasıl ilerler?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2897E3-9512-4703-9D15-7EF02F8A5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A7B5C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7B5C8"/>
                </a:solidFill>
                <a:latin typeface="Aptos"/>
                <a:ea typeface="Aptos"/>
                <a:cs typeface="Aptos"/>
              </a:rPr>
              <a:t>Kullanıcı tek akış görür; servisler arkada paralel çalışır.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0A9AEB-CD24-4369-8E65-E6AC5B38B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5476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CFCB0A-D1DC-4316-9A1E-F3E4FD749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6F819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8198"/>
                </a:solidFill>
                <a:latin typeface="Aptos"/>
                <a:ea typeface="Aptos"/>
                <a:cs typeface="Aptos"/>
              </a:rPr>
              <a:t>ClinicaEye-NLP | Bursa Uludağ Üniversitesi |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882645-4223-4674-8560-3A2D32A0C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6419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0">
                <a:solidFill>
                  <a:srgbClr val="6F819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8198"/>
                </a:solidFill>
                <a:latin typeface="Aptos"/>
                <a:ea typeface="Aptos"/>
                <a:cs typeface="Aptos"/>
              </a:rPr>
              <a:t>Kaynak: README; proje raporu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D9F961-1D2E-45A5-9669-1AD030D52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DF35EF-6098-48EF-B3E4-F72AFB58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265EDC-85F1-48D3-8007-8F69184D5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B99112-9968-41A8-947C-D58DE17C6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95650"/>
            <a:ext cx="13525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0243D"/>
          </a:solidFill>
          <a:ln xmlns:a="http://schemas.openxmlformats.org/drawingml/2006/main" w="9525">
            <a:solidFill>
              <a:srgbClr val="25476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B4C0BF-326A-4A63-B886-E040DA8CF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95650"/>
            <a:ext cx="1352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F4449F-C5BA-4ABD-9E50-612E26641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48050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Not + görüntü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9E2022-C934-47C6-BA36-ADD4A42A6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52850"/>
            <a:ext cx="1009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A7B5C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7B5C8"/>
                </a:solidFill>
                <a:latin typeface="Aptos"/>
                <a:ea typeface="Aptos"/>
                <a:cs typeface="Aptos"/>
              </a:rPr>
              <a:t>Hekim anamnez girer, fundus yükler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2DA9AD-F432-47EB-A0EA-99AF31AA6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05100"/>
            <a:ext cx="990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65A7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387D84-AAFA-4A39-BEF1-D499657D2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4384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9DA16F-C33A-482D-8598-8D8120622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5717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0C4400-02A7-4107-B507-C4230265B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3295650"/>
            <a:ext cx="13525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0243D"/>
          </a:solidFill>
          <a:ln xmlns:a="http://schemas.openxmlformats.org/drawingml/2006/main" w="9525">
            <a:solidFill>
              <a:srgbClr val="25476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03FFB7-B41C-47E9-9467-36AA3FF50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3295650"/>
            <a:ext cx="1352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0495AC-DB1A-47EE-8506-44151F364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3448050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API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AFE148-D038-419B-9536-EF346143B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3752850"/>
            <a:ext cx="1009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A7B5C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7B5C8"/>
                </a:solidFill>
                <a:latin typeface="Aptos"/>
                <a:ea typeface="Aptos"/>
                <a:cs typeface="Aptos"/>
              </a:rPr>
              <a:t>Kimlik, kayıt ve yönlendirme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B5A804-915B-4D5D-9A1B-9524DD73A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705100"/>
            <a:ext cx="990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65A7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8E5B15-F017-44EE-8630-43246E32E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4384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0CA2DA-F213-40AC-9B8C-D0FCEF9A0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717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A5CFF3-38E3-4D83-B386-61F93809C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295650"/>
            <a:ext cx="13525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0243D"/>
          </a:solidFill>
          <a:ln xmlns:a="http://schemas.openxmlformats.org/drawingml/2006/main" w="9525">
            <a:solidFill>
              <a:srgbClr val="25476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1CC7AA-8C6D-4CD6-9D81-EB288D082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295650"/>
            <a:ext cx="1352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8FE6FE-5ACA-4E67-83AC-D4F5CE8B8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448050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Ön işleme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1456EF6-B188-4C99-ABB5-EA3590F30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752850"/>
            <a:ext cx="1009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A7B5C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7B5C8"/>
                </a:solidFill>
                <a:latin typeface="Aptos"/>
                <a:ea typeface="Aptos"/>
                <a:cs typeface="Aptos"/>
              </a:rPr>
              <a:t>Tokenizasyon + Ben Graham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2939966-1984-4DA1-A44E-554FDE8FE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705100"/>
            <a:ext cx="990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65A7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C8DA91F-7443-491E-B0D6-6635EA575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4384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A4131EE-D515-4CD4-AE67-35F9557A4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5717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C1344E6-A27E-4EE8-9D00-8FBDC7481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3295650"/>
            <a:ext cx="13525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0243D"/>
          </a:solidFill>
          <a:ln xmlns:a="http://schemas.openxmlformats.org/drawingml/2006/main" w="9525">
            <a:solidFill>
              <a:srgbClr val="25476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4F1AD9B-8ACB-4957-B203-4B76023C0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3295650"/>
            <a:ext cx="1352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380CFB5-3515-4BE8-BED9-48D37C491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3448050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Paralel çıkarım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72A1793-A369-40C5-8242-2E2EB8A23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3752850"/>
            <a:ext cx="1009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A7B5C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7B5C8"/>
                </a:solidFill>
                <a:latin typeface="Aptos"/>
                <a:ea typeface="Aptos"/>
                <a:cs typeface="Aptos"/>
              </a:rPr>
              <a:t>BioBERT ve EfficientNet-B4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AD35431-66F3-48AE-926E-A62CA1395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2705100"/>
            <a:ext cx="990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65A7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28E4649-47E9-48A8-A2F5-177702BDA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384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23BA568-BB27-43C0-91B9-17C4E0747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717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3044827-C2FB-4F16-B324-8EF1EBCCE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295650"/>
            <a:ext cx="13525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0243D"/>
          </a:solidFill>
          <a:ln xmlns:a="http://schemas.openxmlformats.org/drawingml/2006/main" w="9525">
            <a:solidFill>
              <a:srgbClr val="254766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5CAB22C-43C7-4391-AAF9-D33696D8C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295650"/>
            <a:ext cx="1352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0EFA606-08B9-4D0C-AD0F-2AB90E8D3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448050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Geç füzyon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991B8BC-32FD-4BA2-A65D-AC110ABFE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752850"/>
            <a:ext cx="1009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A7B5C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7B5C8"/>
                </a:solidFill>
                <a:latin typeface="Aptos"/>
                <a:ea typeface="Aptos"/>
                <a:cs typeface="Aptos"/>
              </a:rPr>
              <a:t>Skorlar birleştirilir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BC6C096-5267-492E-866C-FB16135A8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705100"/>
            <a:ext cx="990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65A7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8CB3F7E-5C9A-4F17-9B82-33B7E22C8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4384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C98FC38-FC32-416D-A021-28E24ECFD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5717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B14930F-EBC1-4854-A08F-B59628877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295650"/>
            <a:ext cx="13525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0243D"/>
          </a:solidFill>
          <a:ln xmlns:a="http://schemas.openxmlformats.org/drawingml/2006/main" w="9525">
            <a:solidFill>
              <a:srgbClr val="254766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61AED34-CFC0-4805-8E5F-09343FCBF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295650"/>
            <a:ext cx="1352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48FE7ED-4129-464B-89EB-03BECD1A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448050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Klinik ekran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4E816FC-D3CF-4ABF-B1C3-6B84159B0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752850"/>
            <a:ext cx="1009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A7B5C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7B5C8"/>
                </a:solidFill>
                <a:latin typeface="Aptos"/>
                <a:ea typeface="Aptos"/>
                <a:cs typeface="Aptos"/>
              </a:rPr>
              <a:t>Radar, XAI, olasılıklar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CF71569-C33C-47C0-9EA9-12218D89B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162550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Çıktı nihai tanı değil; karar destek, önceliklendirme ve açıklama katmanıdır.</a:t>
            </a:r>
          </a:p>
        </p:txBody>
      </p:sp>
    </p:spTree>
    <p:extLst>
      <p:ext uri="{BB962C8B-B14F-4D97-AF65-F5344CB8AC3E}">
        <p14:creationId xmlns:p14="http://schemas.microsoft.com/office/powerpoint/2010/main" val="189841117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7F6D7CF-73BE-4B1A-B997-C98CA0F7B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C6C33E-F424-43F1-9D35-DF0DAB981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F4D557-D0BD-4A0E-8D0E-3B290577C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B4E989-A4E2-4496-8D1E-F17EA6F48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TEKNOLOJI YIĞINI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FB315D-1355-469B-9BC7-45D016DFD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781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Üretime yakın mikroservis tabanlı uygulama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7233C4-19F9-4E1D-A402-4BB2764CA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A7B5C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7B5C8"/>
                </a:solidFill>
                <a:latin typeface="Aptos"/>
                <a:ea typeface="Aptos"/>
                <a:cs typeface="Aptos"/>
              </a:rPr>
              <a:t>Web, backend ve AI servisleri ayrıştırılmış; modeller açıklanabilirlik katmanıyla birlikte sunuluyor.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DAF6D2-F4C1-4616-A89C-73D818CD5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5476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29D43A-22A9-4470-A83A-FEB4AE977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6F819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8198"/>
                </a:solidFill>
                <a:latin typeface="Aptos"/>
                <a:ea typeface="Aptos"/>
                <a:cs typeface="Aptos"/>
              </a:rPr>
              <a:t>ClinicaEye-NLP | Bursa Uludağ Üniversitesi |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6ABF77-7143-4439-B180-B9F919246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6419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0">
                <a:solidFill>
                  <a:srgbClr val="6F819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8198"/>
                </a:solidFill>
                <a:latin typeface="Aptos"/>
                <a:ea typeface="Aptos"/>
                <a:cs typeface="Aptos"/>
              </a:rPr>
              <a:t>Kaynak: README; package files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5B3600-AAAC-4C66-A27F-192F1C6C6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80E486-1166-451F-85BC-EC73BBBEC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28800"/>
            <a:ext cx="2857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0243D"/>
          </a:solidFill>
          <a:ln xmlns:a="http://schemas.openxmlformats.org/drawingml/2006/main" w="9525">
            <a:solidFill>
              <a:srgbClr val="25476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1C05A0-2761-4AD3-A127-605BA0B8B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28800"/>
            <a:ext cx="2857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3D8DF9-1777-4EC9-A83C-963505127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812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9D94D0-955F-4BE3-BBA1-1BFAC30D3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86000"/>
            <a:ext cx="2514600" cy="-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F572CC-F3C2-4463-9D36-86A6DB19B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14600"/>
            <a:ext cx="1123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43153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F45F03-EB31-4D85-AD25-8191EB3FD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81275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Next.js 14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212DA8-A6F4-4F85-97E4-37281EB4E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514600"/>
            <a:ext cx="1123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43153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4DE342-F495-4BB1-91D2-966632FF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81275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React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78EA3F-8852-4966-A848-C6C8439D6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71800"/>
            <a:ext cx="1123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43153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3B8CDC-CDEF-4A62-8660-07A406FB0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38475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App Router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9CC535-F5C8-41E4-A9DE-79CAD51C9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971800"/>
            <a:ext cx="1123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43153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51F1F7-C529-4DC1-964B-CF7537773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038475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Radar UI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A9FC74-4617-4266-9B3A-A1C0641C5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28800"/>
            <a:ext cx="2857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0243D"/>
          </a:solidFill>
          <a:ln xmlns:a="http://schemas.openxmlformats.org/drawingml/2006/main" w="9525">
            <a:solidFill>
              <a:srgbClr val="25476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C1AEA7-8401-4285-A969-F5683572C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28800"/>
            <a:ext cx="2857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2E4EFF-1663-4260-BAB5-B4ECA5389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9812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FC2A18-F337-4DFC-9BBE-F782E1658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286000"/>
            <a:ext cx="2514600" cy="-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0E3921-A106-4A56-9F93-1D6F83899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14600"/>
            <a:ext cx="1123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43153"/>
          </a:solidFill>
          <a:ln xmlns:a="http://schemas.openxmlformats.org/drawingml/2006/main" w="9525">
            <a:solidFill>
              <a:srgbClr val="2DD4B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BAB76A-31C3-478C-8674-082CE03B5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581275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Express.js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B905055-0283-4312-A624-AA13F222A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514600"/>
            <a:ext cx="1123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43153"/>
          </a:solidFill>
          <a:ln xmlns:a="http://schemas.openxmlformats.org/drawingml/2006/main" w="9525">
            <a:solidFill>
              <a:srgbClr val="2DD4B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6D09413-4E33-4588-860C-A620C1C8C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581275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Prisma 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6DC7ED3-9D25-4ACA-82A7-BD74198E8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971800"/>
            <a:ext cx="1123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43153"/>
          </a:solidFill>
          <a:ln xmlns:a="http://schemas.openxmlformats.org/drawingml/2006/main" w="9525">
            <a:solidFill>
              <a:srgbClr val="2DD4B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136915-28C1-40F6-8621-B2FD21B8B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038475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MongoDB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F68A276-84F1-4CCF-BE68-6A2620CE8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971800"/>
            <a:ext cx="1123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43153"/>
          </a:solidFill>
          <a:ln xmlns:a="http://schemas.openxmlformats.org/drawingml/2006/main" w="9525">
            <a:solidFill>
              <a:srgbClr val="2DD4B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08E64CB-95C8-4ECC-A06B-3A2480AA4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038475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REST API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682A668-4B34-464B-8FFF-98D1DB3E0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828800"/>
            <a:ext cx="2857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0243D"/>
          </a:solidFill>
          <a:ln xmlns:a="http://schemas.openxmlformats.org/drawingml/2006/main" w="9525">
            <a:solidFill>
              <a:srgbClr val="25476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057EA3C-ECDE-4D58-9801-74E3D12F6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828800"/>
            <a:ext cx="2857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A5F4B21-39DC-45FC-AF5F-1615BC72A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9812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AI Services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A507655-B8D9-463A-8144-2E9CE4FF7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286000"/>
            <a:ext cx="2514600" cy="-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425FA17-2E3A-4CDA-8852-9BD498A40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514600"/>
            <a:ext cx="1123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43153"/>
          </a:solidFill>
          <a:ln xmlns:a="http://schemas.openxmlformats.org/drawingml/2006/main" w="9525">
            <a:solidFill>
              <a:srgbClr val="FBBF2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4C30F46-3F2E-4493-8286-AAAEB4443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581275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Python 3.10+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0B3323C-0647-423E-A63C-C02E16992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514600"/>
            <a:ext cx="1123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43153"/>
          </a:solidFill>
          <a:ln xmlns:a="http://schemas.openxmlformats.org/drawingml/2006/main" w="9525">
            <a:solidFill>
              <a:srgbClr val="FBBF24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D54E235-7593-445A-96FF-BAAA0E4A6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581275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FastAPI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F821493-352A-4D56-9F82-207B0A49E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71800"/>
            <a:ext cx="1123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43153"/>
          </a:solidFill>
          <a:ln xmlns:a="http://schemas.openxmlformats.org/drawingml/2006/main" w="9525">
            <a:solidFill>
              <a:srgbClr val="FBBF24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6142D3E-459F-4651-9E65-8E7758AFE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38475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PyTorch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393A79C-15DC-4C68-AEC4-9246866A8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971800"/>
            <a:ext cx="1123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43153"/>
          </a:solidFill>
          <a:ln xmlns:a="http://schemas.openxmlformats.org/drawingml/2006/main" w="9525">
            <a:solidFill>
              <a:srgbClr val="FBBF24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3678841-CA19-4BA2-BFB6-0CA39A9CF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038475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Torchvision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8A93FD9-DE75-4627-A367-BB19C701E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2857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0243D"/>
          </a:solidFill>
          <a:ln xmlns:a="http://schemas.openxmlformats.org/drawingml/2006/main" w="9525">
            <a:solidFill>
              <a:srgbClr val="25476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55C0172-AD41-486C-8969-79B14BF67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2857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7B766D8-F5B8-47FA-9DC1-F158C75AA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386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Models + XAI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599D0D2-375B-48EF-BB64-630CE6A14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43400"/>
            <a:ext cx="2514600" cy="-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67C4855-7691-47C4-8EE5-B1EA14C3B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72000"/>
            <a:ext cx="1123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43153"/>
          </a:solidFill>
          <a:ln xmlns:a="http://schemas.openxmlformats.org/drawingml/2006/main" w="9525">
            <a:solidFill>
              <a:srgbClr val="FB718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84D230A-3424-4292-809C-86664DD81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38675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BioBERT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F3CB4BE-D7A6-4104-82D7-B8A0568EB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572000"/>
            <a:ext cx="1123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43153"/>
          </a:solidFill>
          <a:ln xmlns:a="http://schemas.openxmlformats.org/drawingml/2006/main" w="9525">
            <a:solidFill>
              <a:srgbClr val="FB718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E8C4289-1463-48D7-9C69-DE3B2F071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638675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EfficientNet-B4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1A6C465-FC87-440C-AA98-A3A8F29C1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29200"/>
            <a:ext cx="1123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43153"/>
          </a:solidFill>
          <a:ln xmlns:a="http://schemas.openxmlformats.org/drawingml/2006/main" w="9525">
            <a:solidFill>
              <a:srgbClr val="FB718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907DCD8-481D-48BB-B491-0D9D706B3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95875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ONNX Runtime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52884F7-51B4-48F0-8C86-9C2036F89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029200"/>
            <a:ext cx="1123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43153"/>
          </a:solidFill>
          <a:ln xmlns:a="http://schemas.openxmlformats.org/drawingml/2006/main" w="9525">
            <a:solidFill>
              <a:srgbClr val="FB718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C7917AA-A2D5-41C1-9BF7-41D52BA50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095875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Captum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994FA5A-6D29-4022-B8A4-D5C8B66D8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86200"/>
            <a:ext cx="2857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0243D"/>
          </a:solidFill>
          <a:ln xmlns:a="http://schemas.openxmlformats.org/drawingml/2006/main" w="9525">
            <a:solidFill>
              <a:srgbClr val="254766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5980138-BC99-4299-9024-E2D39FE2F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86200"/>
            <a:ext cx="2857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7A4EB05-659C-458C-B6A8-AC7B21529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0386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Delivery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8FFBE3B-C3A5-4AB6-9D7A-D8ED659E4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343400"/>
            <a:ext cx="2514600" cy="-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F31A56A-7113-41EA-A11C-A6F2EE437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572000"/>
            <a:ext cx="1123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43153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7235357-056A-44BA-8826-894FBE132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638675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Docker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698624A-ED8C-4328-A9BB-05FAD9560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572000"/>
            <a:ext cx="1123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43153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3DE6810-F354-43FF-942F-69E51EC8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638675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Docker Compose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1FB12B5-5F14-4107-908C-0F547CE27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029200"/>
            <a:ext cx="1123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43153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7AFB9DA-438E-47D7-A60F-174040EF9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095875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Microservices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777C6E0-42B1-4D95-8AF0-EC4F74B7E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029200"/>
            <a:ext cx="1123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43153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CA65D0F-5588-45DD-9CBA-BC783F2BA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095875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Late Fusion</a:t>
            </a:r>
          </a:p>
        </p:txBody>
      </p:sp>
    </p:spTree>
    <p:extLst>
      <p:ext uri="{BB962C8B-B14F-4D97-AF65-F5344CB8AC3E}">
        <p14:creationId xmlns:p14="http://schemas.microsoft.com/office/powerpoint/2010/main" val="46215178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E97BA2-3196-4D5E-9B18-4CB0A33E8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C6C023-D253-409A-AF1C-36C272180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385369-8EE6-4B69-AFE7-8DE32588D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456903-6C98-4C48-BED7-C836BA590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SINIRLILIKLAR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E7E3B9-DDC6-4DB1-A760-2D7F759C0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781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Sonuçlar güçlü ama klinik kullanıma hazır değildir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2842ED-AEA6-4A17-BD83-E705F9DC6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A7B5C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7B5C8"/>
                </a:solidFill>
                <a:latin typeface="Aptos"/>
                <a:ea typeface="Aptos"/>
                <a:cs typeface="Aptos"/>
              </a:rPr>
              <a:t>Sistemin değeri karar desteğidir; klinik doğrulama olmadan tanısal otorite iddiası yoktur.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41FDFE-2036-4B00-ADE6-BAA16A5D3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5476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902C82-BFAD-4001-B951-05F7E6921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6F819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8198"/>
                </a:solidFill>
                <a:latin typeface="Aptos"/>
                <a:ea typeface="Aptos"/>
                <a:cs typeface="Aptos"/>
              </a:rPr>
              <a:t>ClinicaEye-NLP | Bursa Uludağ Üniversitesi |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912056-4249-431F-97EF-83DD043AD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6419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0">
                <a:solidFill>
                  <a:srgbClr val="6F819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8198"/>
                </a:solidFill>
                <a:latin typeface="Aptos"/>
                <a:ea typeface="Aptos"/>
                <a:cs typeface="Aptos"/>
              </a:rPr>
              <a:t>Kaynak: README; proje raporu; vision_evaluation_report.md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EB00F6-3B9E-432B-866A-A8F802557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380CD7-471D-477A-AC5D-BFA9E3626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95500"/>
            <a:ext cx="28575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10243D"/>
          </a:solidFill>
          <a:ln xmlns:a="http://schemas.openxmlformats.org/drawingml/2006/main" w="9525">
            <a:solidFill>
              <a:srgbClr val="25476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F08EDF-08D1-4531-A23A-1DC902EB9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95500"/>
            <a:ext cx="2857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93AAFD-F6EF-4C61-B7BF-4F7B9F496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2479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Vision hedefi karşılanmadı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A34D8F-A40D-49F5-AA3D-3780E0BB9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552700"/>
            <a:ext cx="25146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A7B5C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7B5C8"/>
                </a:solidFill>
                <a:latin typeface="Aptos"/>
                <a:ea typeface="Aptos"/>
                <a:cs typeface="Aptos"/>
              </a:rPr>
              <a:t>F1 Macro 0,6487; 0,70 hedefinin altında. Nadir sınıflar ve ODIR etiket kalitesi performansı sınırlıyor.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099002-CF3D-4103-A2A5-99E2577A1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95500"/>
            <a:ext cx="28575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10243D"/>
          </a:solidFill>
          <a:ln xmlns:a="http://schemas.openxmlformats.org/drawingml/2006/main" w="9525">
            <a:solidFill>
              <a:srgbClr val="25476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DFD24A-CF45-42DC-924F-39132BE27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95500"/>
            <a:ext cx="2857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89757A-1458-4E1E-83A8-0965E608D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2479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Klinik validasyon yok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513799-F912-4468-8547-A5CE3DC32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552700"/>
            <a:ext cx="25146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A7B5C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7B5C8"/>
                </a:solidFill>
                <a:latin typeface="Aptos"/>
                <a:ea typeface="Aptos"/>
                <a:cs typeface="Aptos"/>
              </a:rPr>
              <a:t>Prospektif çalışma, gerçek klinik kullanım ve uzman hekim doğrulaması henüz yapılmadı.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3B620F-63CD-48C7-8134-CA5DF118B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95500"/>
            <a:ext cx="28575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10243D"/>
          </a:solidFill>
          <a:ln xmlns:a="http://schemas.openxmlformats.org/drawingml/2006/main" w="9525">
            <a:solidFill>
              <a:srgbClr val="25476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3D907A-C07A-43CE-B097-E3BA9D941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95500"/>
            <a:ext cx="2857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8D4D76-6758-4D4A-BA23-C539A0DAB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479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Veri kalitesi ve kapsam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348E30-79DA-4192-B730-6E6C00F69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52700"/>
            <a:ext cx="25146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A7B5C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7B5C8"/>
                </a:solidFill>
                <a:latin typeface="Aptos"/>
                <a:ea typeface="Aptos"/>
                <a:cs typeface="Aptos"/>
              </a:rPr>
              <a:t>Bazı hastalıklar fundus görüntüsünde doğrudan temsil edilmiyor; NLP ile vision sinyali eşit güçte değil.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A5F0B7-27E0-4C9C-A054-213641738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857750"/>
            <a:ext cx="904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Bu nedenle ClinicaEye-NLP bir klinik karar destek prototipidir; nihai tanı hekime aittir.</a:t>
            </a:r>
          </a:p>
        </p:txBody>
      </p:sp>
    </p:spTree>
    <p:extLst>
      <p:ext uri="{BB962C8B-B14F-4D97-AF65-F5344CB8AC3E}">
        <p14:creationId xmlns:p14="http://schemas.microsoft.com/office/powerpoint/2010/main" val="85047927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D7F56E1-AB13-4E3F-850E-115BC8AD5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DBE448-7A94-4612-BBEE-80D2D4C96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DB7566-C2FE-4357-9E10-450954E20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B39980-377B-4441-8E56-EE75F15E2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GELECEK ÇALIŞMALAR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FF850A-80AA-4466-A387-56AF90BCB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781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Metin + görüntü + laboratuvar verisiyle genişleme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07F9B8-4F6E-46BE-99FF-F5A781BDC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A7B5C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7B5C8"/>
                </a:solidFill>
                <a:latin typeface="Aptos"/>
                <a:ea typeface="Aptos"/>
                <a:cs typeface="Aptos"/>
              </a:rPr>
              <a:t>Bir sonraki aşama daha zengin modaliteler ve klinik doğrulama ile güvenilirliği artırmak.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B282A5-6CF5-40FB-B922-014DACEF4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5476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C05C9B-709F-4787-88A4-2272D1B75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6F819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8198"/>
                </a:solidFill>
                <a:latin typeface="Aptos"/>
                <a:ea typeface="Aptos"/>
                <a:cs typeface="Aptos"/>
              </a:rPr>
              <a:t>ClinicaEye-NLP | Bursa Uludağ Üniversitesi |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8DB833-A41B-43E5-9C20-896569A4E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6419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0">
                <a:solidFill>
                  <a:srgbClr val="6F819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8198"/>
                </a:solidFill>
                <a:latin typeface="Aptos"/>
                <a:ea typeface="Aptos"/>
                <a:cs typeface="Aptos"/>
              </a:rPr>
              <a:t>Kaynak: README; proje raporu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382C6D-7383-4694-B17D-604B8775B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96E666-AD0B-4EF4-AD3D-51D93F66E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28850"/>
            <a:ext cx="25717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0243D"/>
          </a:solidFill>
          <a:ln xmlns:a="http://schemas.openxmlformats.org/drawingml/2006/main" w="9525">
            <a:solidFill>
              <a:srgbClr val="25476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6BCA05-D21B-4C60-BAD5-9E05A2A7F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812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C694ED-66FA-4897-834A-DF4DAF1AB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352675"/>
            <a:ext cx="1943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OCT modalitesi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C3EC30-D580-4A07-8316-A7D46D9BC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28900"/>
            <a:ext cx="1943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A7B5C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7B5C8"/>
                </a:solidFill>
                <a:latin typeface="Aptos"/>
                <a:ea typeface="Aptos"/>
                <a:cs typeface="Aptos"/>
              </a:rPr>
              <a:t>Makula ve retina katmanlarını daha ayrıntılı temsil eden görüntü sinyali.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4920D2-65BC-453F-AD78-65BE6BF95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228850"/>
            <a:ext cx="25717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0243D"/>
          </a:solidFill>
          <a:ln xmlns:a="http://schemas.openxmlformats.org/drawingml/2006/main" w="9525">
            <a:solidFill>
              <a:srgbClr val="25476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9D631D-C9E1-4DEB-8DD6-AB5CF0CA9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23812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A7813E-BA59-485A-BB67-3E2CC6862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352675"/>
            <a:ext cx="1943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Laboratuvar entegrasyonu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34DF66-2ABC-4EA5-ADC5-C74DFBB0D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628900"/>
            <a:ext cx="1943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A7B5C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7B5C8"/>
                </a:solidFill>
                <a:latin typeface="Aptos"/>
                <a:ea typeface="Aptos"/>
                <a:cs typeface="Aptos"/>
              </a:rPr>
              <a:t>HbA1c, tansiyon, biyobelirteç ve hasta geçmişiyle bağlamsal risk.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AF81D0-DCF3-4B16-A305-CDE054B32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228850"/>
            <a:ext cx="25717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0243D"/>
          </a:solidFill>
          <a:ln xmlns:a="http://schemas.openxmlformats.org/drawingml/2006/main" w="9525">
            <a:solidFill>
              <a:srgbClr val="25476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3B237E-28EC-47CB-8DAD-6C6B70859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3812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B1B70B-6046-442F-8CDC-D56813BCC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352675"/>
            <a:ext cx="1943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GNN üçlü füzyon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214507-B80D-41A2-A721-EDF32E69B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628900"/>
            <a:ext cx="1943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A7B5C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7B5C8"/>
                </a:solidFill>
                <a:latin typeface="Aptos"/>
                <a:ea typeface="Aptos"/>
                <a:cs typeface="Aptos"/>
              </a:rPr>
              <a:t>Metin, görüntü ve lab ilişkilerini grafik yapısında birleştirme.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5901FC-50AD-4AE5-BC91-2CB29A37E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857500"/>
            <a:ext cx="11144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65A7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895E4C-A0CA-4DAF-A8A9-6C4AA484D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857500"/>
            <a:ext cx="11144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65A7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D2AA93-44F4-4465-AC40-C7122FE10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381500"/>
            <a:ext cx="63627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0243D"/>
          </a:solidFill>
          <a:ln xmlns:a="http://schemas.openxmlformats.org/drawingml/2006/main" w="9525">
            <a:solidFill>
              <a:srgbClr val="25476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764185-9217-4000-8FA8-28CB944D7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381500"/>
            <a:ext cx="6362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CAD38C-ABC3-430D-855F-9819C1F64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533900"/>
            <a:ext cx="601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Klinik hedef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AF5403-187D-4E1C-82FE-9F6083012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838700"/>
            <a:ext cx="6019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A7B5C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7B5C8"/>
                </a:solidFill>
                <a:latin typeface="Aptos"/>
                <a:ea typeface="Aptos"/>
                <a:cs typeface="Aptos"/>
              </a:rPr>
              <a:t>Prospektif validasyon, uzman hekim geri bildirimi ve gerçek iş akışı ölçümleriyle sistemin klinik katkısını göstermek.</a:t>
            </a:r>
          </a:p>
        </p:txBody>
      </p:sp>
    </p:spTree>
    <p:extLst>
      <p:ext uri="{BB962C8B-B14F-4D97-AF65-F5344CB8AC3E}">
        <p14:creationId xmlns:p14="http://schemas.microsoft.com/office/powerpoint/2010/main" val="92876985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40EBCB9-2334-4F4E-816E-EBC9C988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B2A46E-80E4-4A71-8513-B432BB0BB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6193F0-4EFF-4BB6-A65C-A8B0FFDD9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F24A0B-BDEA-4645-A52C-C32938DB6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81150"/>
            <a:ext cx="723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3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Teşekkürler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5ABBBA-C2FA-46A3-AEBF-B42B20F15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A7B5C8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A7B5C8"/>
                </a:solidFill>
                <a:latin typeface="Aptos"/>
                <a:ea typeface="Aptos"/>
                <a:cs typeface="Aptos"/>
              </a:rPr>
              <a:t>Sorularınızı memnuniyetle yanıtlarız.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DA8504-F67F-4A59-856A-0A70291F1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43300"/>
            <a:ext cx="4476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243D"/>
          </a:solidFill>
          <a:ln xmlns:a="http://schemas.openxmlformats.org/drawingml/2006/main" w="9525">
            <a:solidFill>
              <a:srgbClr val="25476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2B464E-DB8A-4A16-84A0-C47B11B7C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90950"/>
            <a:ext cx="381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Alper Can Özer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Tolga Direk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736067-83E8-4E78-A182-4EE04EBDA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4386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A7B5C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7B5C8"/>
                </a:solidFill>
                <a:latin typeface="Aptos"/>
                <a:ea typeface="Aptos"/>
                <a:cs typeface="Aptos"/>
              </a:rPr>
              <a:t>Danışman: Doç. Dr. Gıyasettin Özcan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D8990B-9D67-40F1-8144-E69494F74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28800"/>
            <a:ext cx="18097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43D"/>
          </a:solidFill>
          <a:ln xmlns:a="http://schemas.openxmlformats.org/drawingml/2006/main" w="9525">
            <a:solidFill>
              <a:srgbClr val="25476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3DE518-3350-46C0-8173-3A80C90FC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47900"/>
            <a:ext cx="971550" cy="971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B2F"/>
          </a:solidFill>
          <a:ln xmlns:a="http://schemas.openxmlformats.org/drawingml/2006/main" w="9525">
            <a:solidFill>
              <a:srgbClr val="365A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4BCCB1-B07A-4D06-AA44-C8040DE95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5336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8A75B0-B90D-4799-8722-8C8BD99B6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1910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Bursa Uludağ Üniversitesi |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EFE324-324F-4AF0-A999-AEE42A976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5476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C3B288-FC3B-4307-850C-4BF883077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6F819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8198"/>
                </a:solidFill>
                <a:latin typeface="Aptos"/>
                <a:ea typeface="Aptos"/>
                <a:cs typeface="Aptos"/>
              </a:rPr>
              <a:t>ClinicaEye-NLP | Bursa Uludağ Üniversitesi | 2026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B72617-A0B7-45F6-BA8D-EFCD7217D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6419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0">
                <a:solidFill>
                  <a:srgbClr val="6F819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8198"/>
                </a:solidFill>
                <a:latin typeface="Aptos"/>
                <a:ea typeface="Aptos"/>
                <a:cs typeface="Aptos"/>
              </a:rPr>
              <a:t>Kaynak: Proje raporu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0DC9EA-BC3F-4323-BA32-45CACB1EE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872797395"/>
      </p:ext>
    </p:extLst>
  </p:cSld>
</p:sld>
</file>

<file path=ppt/theme/theme1.xml><?xml version="1.0" encoding="utf-8"?>
<a:theme xmlns:a="http://schemas.openxmlformats.org/drawingml/2006/main" name="ChatGPT">
  <a:themeElements>
    <a:clrScheme name="ClinicaEye Dark">
      <a:dk1>
        <a:srgbClr val="000000"/>
      </a:dk1>
      <a:lt1>
        <a:srgbClr val="FFFFFF"/>
      </a:lt1>
      <a:dk2>
        <a:srgbClr val="0B1B2F"/>
      </a:dk2>
      <a:lt2>
        <a:srgbClr val="254766"/>
      </a:lt2>
      <a:accent1>
        <a:srgbClr val="38BDF8"/>
      </a:accent1>
      <a:accent2>
        <a:srgbClr val="2DD4BF"/>
      </a:accent2>
      <a:accent3>
        <a:srgbClr val="FBBF24"/>
      </a:accent3>
      <a:accent4>
        <a:srgbClr val="FB7185"/>
      </a:accent4>
      <a:accent5>
        <a:srgbClr val="818CF8"/>
      </a:accent5>
      <a:accent6>
        <a:srgbClr val="34D399"/>
      </a:accent6>
      <a:hlink>
        <a:srgbClr val="38BDF8"/>
      </a:hlink>
      <a:folHlink>
        <a:srgbClr val="2DD4BF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linicaEye Dark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2026-06-23T10:59:08.8270000Z</dcterms:created>
  <dcterms:modified xsi:type="dcterms:W3CDTF">2026-06-23T10:59:08.8270000Z</dcterms:modified>
</coreProperties>
</file>